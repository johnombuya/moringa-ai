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6858000" cx="12192000"/>
  <p:notesSz cx="6858000" cy="9144000"/>
  <p:embeddedFontLst>
    <p:embeddedFont>
      <p:font typeface="Plus Jakarta Sans ExtraBold"/>
      <p:bold r:id="rId18"/>
      <p:boldItalic r:id="rId19"/>
    </p:embeddedFont>
    <p:embeddedFont>
      <p:font typeface="Plus Jakarta Sans"/>
      <p:regular r:id="rId20"/>
      <p:bold r:id="rId21"/>
      <p:italic r:id="rId22"/>
      <p:boldItalic r:id="rId23"/>
    </p:embeddedFont>
    <p:embeddedFont>
      <p:font typeface="Plus Jakarta Sans SemiBold"/>
      <p:regular r:id="rId24"/>
      <p:bold r:id="rId25"/>
      <p:italic r:id="rId26"/>
      <p:boldItalic r:id="rId27"/>
    </p:embeddedFont>
    <p:embeddedFont>
      <p:font typeface="Plus Jakarta Sans Medium"/>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9DAA5B0-17B4-4CD8-A0E0-2F7620572B73}">
  <a:tblStyle styleId="{29DAA5B0-17B4-4CD8-A0E0-2F7620572B73}"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lusJakartaSans-regular.fntdata"/><Relationship Id="rId22" Type="http://schemas.openxmlformats.org/officeDocument/2006/relationships/font" Target="fonts/PlusJakartaSans-italic.fntdata"/><Relationship Id="rId21" Type="http://schemas.openxmlformats.org/officeDocument/2006/relationships/font" Target="fonts/PlusJakartaSans-bold.fntdata"/><Relationship Id="rId24" Type="http://schemas.openxmlformats.org/officeDocument/2006/relationships/font" Target="fonts/PlusJakartaSansSemiBold-regular.fntdata"/><Relationship Id="rId23" Type="http://schemas.openxmlformats.org/officeDocument/2006/relationships/font" Target="fonts/PlusJakartaSans-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PlusJakartaSansSemiBold-italic.fntdata"/><Relationship Id="rId25" Type="http://schemas.openxmlformats.org/officeDocument/2006/relationships/font" Target="fonts/PlusJakartaSansSemiBold-bold.fntdata"/><Relationship Id="rId28" Type="http://schemas.openxmlformats.org/officeDocument/2006/relationships/font" Target="fonts/PlusJakartaSansMedium-regular.fntdata"/><Relationship Id="rId27" Type="http://schemas.openxmlformats.org/officeDocument/2006/relationships/font" Target="fonts/PlusJakartaSansSemiBold-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PlusJakartaSansMedium-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lusJakartaSansMedium-boldItalic.fntdata"/><Relationship Id="rId30" Type="http://schemas.openxmlformats.org/officeDocument/2006/relationships/font" Target="fonts/PlusJakartaSansMedium-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PlusJakartaSansExtraBold-boldItalic.fntdata"/><Relationship Id="rId18" Type="http://schemas.openxmlformats.org/officeDocument/2006/relationships/font" Target="fonts/PlusJakartaSansExtra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20.png"/><Relationship Id="rId6" Type="http://schemas.openxmlformats.org/officeDocument/2006/relationships/image" Target="../media/image7.png"/><Relationship Id="rId7" Type="http://schemas.openxmlformats.org/officeDocument/2006/relationships/image" Target="../media/image29.png"/><Relationship Id="rId8"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30.png"/><Relationship Id="rId6" Type="http://schemas.openxmlformats.org/officeDocument/2006/relationships/image" Target="../media/image15.png"/><Relationship Id="rId7" Type="http://schemas.openxmlformats.org/officeDocument/2006/relationships/image" Target="../media/image2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13.png"/><Relationship Id="rId11" Type="http://schemas.openxmlformats.org/officeDocument/2006/relationships/image" Target="../media/image16.png"/><Relationship Id="rId10" Type="http://schemas.openxmlformats.org/officeDocument/2006/relationships/image" Target="../media/image26.png"/><Relationship Id="rId12" Type="http://schemas.openxmlformats.org/officeDocument/2006/relationships/image" Target="../media/image9.png"/><Relationship Id="rId9"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8.png"/><Relationship Id="rId5" Type="http://schemas.openxmlformats.org/officeDocument/2006/relationships/image" Target="../media/image27.png"/><Relationship Id="rId6" Type="http://schemas.openxmlformats.org/officeDocument/2006/relationships/image" Target="../media/image22.png"/><Relationship Id="rId7"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9"/>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188275"/>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581025" y="3949898"/>
            <a:ext cx="7620000" cy="542925"/>
          </a:xfrm>
          <a:prstGeom prst="rect">
            <a:avLst/>
          </a:prstGeom>
          <a:noFill/>
          <a:ln>
            <a:noFill/>
          </a:ln>
        </p:spPr>
      </p:pic>
      <p:sp>
        <p:nvSpPr>
          <p:cNvPr id="86" name="Google Shape;86;p13"/>
          <p:cNvSpPr txBox="1"/>
          <p:nvPr/>
        </p:nvSpPr>
        <p:spPr>
          <a:xfrm>
            <a:off x="581025" y="2365027"/>
            <a:ext cx="5840730" cy="6133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4200" u="none" cap="none" strike="noStrike">
                <a:solidFill>
                  <a:srgbClr val="FFFFFF"/>
                </a:solidFill>
                <a:latin typeface="Plus Jakarta Sans ExtraBold"/>
                <a:ea typeface="Plus Jakarta Sans ExtraBold"/>
                <a:cs typeface="Plus Jakarta Sans ExtraBold"/>
                <a:sym typeface="Plus Jakarta Sans ExtraBold"/>
              </a:rPr>
              <a:t>AfyaPlus Triage </a:t>
            </a:r>
            <a:r>
              <a:rPr b="0" i="0" lang="en-US" sz="4200" u="none" cap="none" strike="noStrike">
                <a:solidFill>
                  <a:srgbClr val="14B8A6"/>
                </a:solidFill>
                <a:latin typeface="Plus Jakarta Sans ExtraBold"/>
                <a:ea typeface="Plus Jakarta Sans ExtraBold"/>
                <a:cs typeface="Plus Jakarta Sans ExtraBold"/>
                <a:sym typeface="Plus Jakarta Sans ExtraBold"/>
              </a:rPr>
              <a:t>Engine</a:t>
            </a:r>
            <a:endParaRPr/>
          </a:p>
        </p:txBody>
      </p:sp>
      <p:sp>
        <p:nvSpPr>
          <p:cNvPr id="87" name="Google Shape;87;p13"/>
          <p:cNvSpPr txBox="1"/>
          <p:nvPr/>
        </p:nvSpPr>
        <p:spPr>
          <a:xfrm>
            <a:off x="581025" y="3720398"/>
            <a:ext cx="65247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94A3B8"/>
                </a:solidFill>
                <a:latin typeface="Plus Jakarta Sans"/>
                <a:ea typeface="Plus Jakarta Sans"/>
                <a:cs typeface="Plus Jakarta Sans"/>
                <a:sym typeface="Plus Jakarta Sans"/>
              </a:rPr>
              <a:t>Automated medical message sorting for rural and low-connectivity clinics</a:t>
            </a:r>
            <a:endParaRPr/>
          </a:p>
        </p:txBody>
      </p:sp>
      <p:sp>
        <p:nvSpPr>
          <p:cNvPr id="88" name="Google Shape;88;p13"/>
          <p:cNvSpPr txBox="1"/>
          <p:nvPr/>
        </p:nvSpPr>
        <p:spPr>
          <a:xfrm>
            <a:off x="581025" y="4559723"/>
            <a:ext cx="18765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64748B"/>
                </a:solidFill>
                <a:latin typeface="Plus Jakarta Sans"/>
                <a:ea typeface="Plus Jakarta Sans"/>
                <a:cs typeface="Plus Jakarta Sans"/>
                <a:sym typeface="Plus Jakarta Sans"/>
              </a:rPr>
              <a:t>Presenter</a:t>
            </a:r>
            <a:r>
              <a:rPr b="0" i="0" lang="en-US" sz="1200" u="none" cap="none" strike="noStrike">
                <a:solidFill>
                  <a:srgbClr val="000000"/>
                </a:solidFill>
                <a:latin typeface="Plus Jakarta Sans"/>
                <a:ea typeface="Plus Jakarta Sans"/>
                <a:cs typeface="Plus Jakarta Sans"/>
                <a:sym typeface="Plus Jakarta Sans"/>
              </a:rPr>
              <a:t> </a:t>
            </a:r>
            <a:r>
              <a:rPr lang="en-US" sz="1200">
                <a:solidFill>
                  <a:srgbClr val="FFFFFF"/>
                </a:solidFill>
                <a:latin typeface="Plus Jakarta Sans Medium"/>
                <a:ea typeface="Plus Jakarta Sans Medium"/>
                <a:cs typeface="Plus Jakarta Sans Medium"/>
                <a:sym typeface="Plus Jakarta Sans Medium"/>
              </a:rPr>
              <a:t>John Ombuya</a:t>
            </a:r>
            <a:endParaRPr/>
          </a:p>
        </p:txBody>
      </p:sp>
      <p:sp>
        <p:nvSpPr>
          <p:cNvPr id="89" name="Google Shape;89;p13"/>
          <p:cNvSpPr txBox="1"/>
          <p:nvPr/>
        </p:nvSpPr>
        <p:spPr>
          <a:xfrm>
            <a:off x="2838450" y="4559723"/>
            <a:ext cx="28386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64748B"/>
                </a:solidFill>
                <a:latin typeface="Plus Jakarta Sans"/>
                <a:ea typeface="Plus Jakarta Sans"/>
                <a:cs typeface="Plus Jakarta Sans"/>
                <a:sym typeface="Plus Jakarta Sans"/>
              </a:rPr>
              <a:t>Product Stack</a:t>
            </a:r>
            <a:r>
              <a:rPr b="0" i="0" lang="en-US" sz="1200" u="none" cap="none" strike="noStrike">
                <a:solidFill>
                  <a:srgbClr val="000000"/>
                </a:solidFill>
                <a:latin typeface="Plus Jakarta Sans"/>
                <a:ea typeface="Plus Jakarta Sans"/>
                <a:cs typeface="Plus Jakarta Sans"/>
                <a:sym typeface="Plus Jakarta Sans"/>
              </a:rPr>
              <a:t> </a:t>
            </a:r>
            <a:r>
              <a:rPr b="0" i="0" lang="en-US" sz="1200" u="none" cap="none" strike="noStrike">
                <a:solidFill>
                  <a:srgbClr val="FFFFFF"/>
                </a:solidFill>
                <a:latin typeface="Plus Jakarta Sans Medium"/>
                <a:ea typeface="Plus Jakarta Sans Medium"/>
                <a:cs typeface="Plus Jakarta Sans Medium"/>
                <a:sym typeface="Plus Jakarta Sans Medium"/>
              </a:rPr>
              <a:t>Python • OpenRouter • Ollama fallback</a:t>
            </a:r>
            <a:endParaRPr/>
          </a:p>
        </p:txBody>
      </p:sp>
      <p:sp>
        <p:nvSpPr>
          <p:cNvPr id="90" name="Google Shape;90;p13"/>
          <p:cNvSpPr txBox="1"/>
          <p:nvPr/>
        </p:nvSpPr>
        <p:spPr>
          <a:xfrm>
            <a:off x="6057900" y="4559723"/>
            <a:ext cx="20193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64748B"/>
                </a:solidFill>
                <a:latin typeface="Plus Jakarta Sans"/>
                <a:ea typeface="Plus Jakarta Sans"/>
                <a:cs typeface="Plus Jakarta Sans"/>
                <a:sym typeface="Plus Jakarta Sans"/>
              </a:rPr>
              <a:t>Scope</a:t>
            </a:r>
            <a:r>
              <a:rPr b="0" i="0" lang="en-US" sz="1200" u="none" cap="none" strike="noStrike">
                <a:solidFill>
                  <a:srgbClr val="000000"/>
                </a:solidFill>
                <a:latin typeface="Plus Jakarta Sans"/>
                <a:ea typeface="Plus Jakarta Sans"/>
                <a:cs typeface="Plus Jakarta Sans"/>
                <a:sym typeface="Plus Jakarta Sans"/>
              </a:rPr>
              <a:t> </a:t>
            </a:r>
            <a:r>
              <a:rPr b="0" i="0" lang="en-US" sz="1200" u="none" cap="none" strike="noStrike">
                <a:solidFill>
                  <a:srgbClr val="FFFFFF"/>
                </a:solidFill>
                <a:latin typeface="Plus Jakarta Sans Medium"/>
                <a:ea typeface="Plus Jakarta Sans Medium"/>
                <a:cs typeface="Plus Jakarta Sans Medium"/>
                <a:sym typeface="Plus Jakarta Sans Medium"/>
              </a:rPr>
              <a:t>Week 1 Capstone Prototype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9"/>
        </a:solidFill>
      </p:bgPr>
    </p:bg>
    <p:spTree>
      <p:nvGrpSpPr>
        <p:cNvPr id="94" name="Shape 94"/>
        <p:cNvGrpSpPr/>
        <p:nvPr/>
      </p:nvGrpSpPr>
      <p:grpSpPr>
        <a:xfrm>
          <a:off x="0" y="0"/>
          <a:ext cx="0" cy="0"/>
          <a:chOff x="0" y="0"/>
          <a:chExt cx="0" cy="0"/>
        </a:xfrm>
      </p:grpSpPr>
      <p:pic>
        <p:nvPicPr>
          <p:cNvPr descr="image.png" id="95" name="Google Shape;95;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6" name="Google Shape;96;p14"/>
          <p:cNvPicPr preferRelativeResize="0"/>
          <p:nvPr/>
        </p:nvPicPr>
        <p:blipFill rotWithShape="1">
          <a:blip r:embed="rId4">
            <a:alphaModFix/>
          </a:blip>
          <a:srcRect b="0" l="0" r="0" t="0"/>
          <a:stretch/>
        </p:blipFill>
        <p:spPr>
          <a:xfrm>
            <a:off x="6286500" y="2107555"/>
            <a:ext cx="5324475" cy="3619500"/>
          </a:xfrm>
          <a:prstGeom prst="rect">
            <a:avLst/>
          </a:prstGeom>
          <a:noFill/>
          <a:ln>
            <a:noFill/>
          </a:ln>
        </p:spPr>
      </p:pic>
      <p:sp>
        <p:nvSpPr>
          <p:cNvPr id="97" name="Google Shape;97;p14"/>
          <p:cNvSpPr txBox="1"/>
          <p:nvPr/>
        </p:nvSpPr>
        <p:spPr>
          <a:xfrm>
            <a:off x="581025" y="2346870"/>
            <a:ext cx="5590698"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14B8A6"/>
                </a:solidFill>
                <a:latin typeface="Plus Jakarta Sans SemiBold"/>
                <a:ea typeface="Plus Jakarta Sans SemiBold"/>
                <a:cs typeface="Plus Jakarta Sans SemiBold"/>
                <a:sym typeface="Plus Jakarta Sans SemiBold"/>
              </a:rPr>
              <a:t>AfyaPlus is failing at the front door.</a:t>
            </a:r>
            <a:endParaRPr/>
          </a:p>
        </p:txBody>
      </p:sp>
      <p:sp>
        <p:nvSpPr>
          <p:cNvPr id="98" name="Google Shape;98;p14"/>
          <p:cNvSpPr txBox="1"/>
          <p:nvPr/>
        </p:nvSpPr>
        <p:spPr>
          <a:xfrm>
            <a:off x="581025" y="2775495"/>
            <a:ext cx="5324475"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Plus Jakarta Sans"/>
                <a:ea typeface="Plus Jakarta Sans"/>
                <a:cs typeface="Plus Jakarta Sans"/>
                <a:sym typeface="Plus Jakarta Sans"/>
              </a:rPr>
              <a:t>Patients transmit critical medical needs in unstructured, conversational SMS messages. Clinics are completely overwhelmed with manual sorting.</a:t>
            </a:r>
            <a:endParaRPr/>
          </a:p>
        </p:txBody>
      </p:sp>
      <p:pic>
        <p:nvPicPr>
          <p:cNvPr descr="image.png" id="99" name="Google Shape;99;p14"/>
          <p:cNvPicPr preferRelativeResize="0"/>
          <p:nvPr/>
        </p:nvPicPr>
        <p:blipFill rotWithShape="1">
          <a:blip r:embed="rId5">
            <a:alphaModFix/>
          </a:blip>
          <a:srcRect b="0" l="0" r="0" t="0"/>
          <a:stretch/>
        </p:blipFill>
        <p:spPr>
          <a:xfrm>
            <a:off x="6296025" y="2117080"/>
            <a:ext cx="5305425" cy="3600450"/>
          </a:xfrm>
          <a:prstGeom prst="rect">
            <a:avLst/>
          </a:prstGeom>
          <a:noFill/>
          <a:ln>
            <a:noFill/>
          </a:ln>
        </p:spPr>
      </p:pic>
      <p:sp>
        <p:nvSpPr>
          <p:cNvPr id="100" name="Google Shape;100;p14"/>
          <p:cNvSpPr txBox="1"/>
          <p:nvPr/>
        </p:nvSpPr>
        <p:spPr>
          <a:xfrm>
            <a:off x="914400" y="3453556"/>
            <a:ext cx="4991100"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FFFFFF"/>
                </a:solidFill>
                <a:latin typeface="Plus Jakarta Sans"/>
                <a:ea typeface="Plus Jakarta Sans"/>
                <a:cs typeface="Plus Jakarta Sans"/>
                <a:sym typeface="Plus Jakarta Sans"/>
              </a:rPr>
              <a:t>AI Conversational Fluff:</a:t>
            </a:r>
            <a:r>
              <a:rPr b="0" i="0" lang="en-US" sz="1200" u="none" cap="none" strike="noStrike">
                <a:solidFill>
                  <a:srgbClr val="94A3B8"/>
                </a:solidFill>
                <a:latin typeface="Plus Jakarta Sans"/>
                <a:ea typeface="Plus Jakarta Sans"/>
                <a:cs typeface="Plus Jakarta Sans"/>
                <a:sym typeface="Plus Jakarta Sans"/>
              </a:rPr>
              <a:t> Generic models return chatty responses that break backend processing.</a:t>
            </a:r>
            <a:endParaRPr/>
          </a:p>
        </p:txBody>
      </p:sp>
      <p:sp>
        <p:nvSpPr>
          <p:cNvPr id="101" name="Google Shape;101;p14"/>
          <p:cNvSpPr txBox="1"/>
          <p:nvPr/>
        </p:nvSpPr>
        <p:spPr>
          <a:xfrm>
            <a:off x="914400" y="4131617"/>
            <a:ext cx="4991100"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FFFFFF"/>
                </a:solidFill>
                <a:latin typeface="Plus Jakarta Sans"/>
                <a:ea typeface="Plus Jakarta Sans"/>
                <a:cs typeface="Plus Jakarta Sans"/>
                <a:sym typeface="Plus Jakarta Sans"/>
              </a:rPr>
              <a:t>Clinical Hallucinations:</a:t>
            </a:r>
            <a:r>
              <a:rPr b="0" i="0" lang="en-US" sz="1200" u="none" cap="none" strike="noStrike">
                <a:solidFill>
                  <a:srgbClr val="94A3B8"/>
                </a:solidFill>
                <a:latin typeface="Plus Jakarta Sans"/>
                <a:ea typeface="Plus Jakarta Sans"/>
                <a:cs typeface="Plus Jakarta Sans"/>
                <a:sym typeface="Plus Jakarta Sans"/>
              </a:rPr>
              <a:t> Unchecked models invent false facts, posing severe safety risks.</a:t>
            </a:r>
            <a:endParaRPr/>
          </a:p>
        </p:txBody>
      </p:sp>
      <p:sp>
        <p:nvSpPr>
          <p:cNvPr id="102" name="Google Shape;102;p14"/>
          <p:cNvSpPr txBox="1"/>
          <p:nvPr/>
        </p:nvSpPr>
        <p:spPr>
          <a:xfrm>
            <a:off x="914400" y="4809678"/>
            <a:ext cx="4991100"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FFFFFF"/>
                </a:solidFill>
                <a:latin typeface="Plus Jakarta Sans"/>
                <a:ea typeface="Plus Jakarta Sans"/>
                <a:cs typeface="Plus Jakarta Sans"/>
                <a:sym typeface="Plus Jakarta Sans"/>
              </a:rPr>
              <a:t>Cloud Freezes:</a:t>
            </a:r>
            <a:r>
              <a:rPr b="0" i="0" lang="en-US" sz="1200" u="none" cap="none" strike="noStrike">
                <a:solidFill>
                  <a:srgbClr val="94A3B8"/>
                </a:solidFill>
                <a:latin typeface="Plus Jakarta Sans"/>
                <a:ea typeface="Plus Jakarta Sans"/>
                <a:cs typeface="Plus Jakarta Sans"/>
                <a:sym typeface="Plus Jakarta Sans"/>
              </a:rPr>
              <a:t> Clinic networks drop often, freezing cloud-only triage engines.</a:t>
            </a:r>
            <a:endParaRPr/>
          </a:p>
        </p:txBody>
      </p:sp>
      <p:pic>
        <p:nvPicPr>
          <p:cNvPr descr="image.png" id="103" name="Google Shape;103;p14"/>
          <p:cNvPicPr preferRelativeResize="0"/>
          <p:nvPr/>
        </p:nvPicPr>
        <p:blipFill rotWithShape="1">
          <a:blip r:embed="rId6">
            <a:alphaModFix/>
          </a:blip>
          <a:srcRect b="0" l="0" r="0" t="0"/>
          <a:stretch/>
        </p:blipFill>
        <p:spPr>
          <a:xfrm>
            <a:off x="581025" y="3486894"/>
            <a:ext cx="171450" cy="180975"/>
          </a:xfrm>
          <a:prstGeom prst="rect">
            <a:avLst/>
          </a:prstGeom>
          <a:noFill/>
          <a:ln>
            <a:noFill/>
          </a:ln>
        </p:spPr>
      </p:pic>
      <p:pic>
        <p:nvPicPr>
          <p:cNvPr descr="image.png" id="104" name="Google Shape;104;p14"/>
          <p:cNvPicPr preferRelativeResize="0"/>
          <p:nvPr/>
        </p:nvPicPr>
        <p:blipFill rotWithShape="1">
          <a:blip r:embed="rId7">
            <a:alphaModFix/>
          </a:blip>
          <a:srcRect b="0" l="0" r="0" t="0"/>
          <a:stretch/>
        </p:blipFill>
        <p:spPr>
          <a:xfrm>
            <a:off x="581025" y="4164955"/>
            <a:ext cx="152400" cy="180975"/>
          </a:xfrm>
          <a:prstGeom prst="rect">
            <a:avLst/>
          </a:prstGeom>
          <a:noFill/>
          <a:ln>
            <a:noFill/>
          </a:ln>
        </p:spPr>
      </p:pic>
      <p:pic>
        <p:nvPicPr>
          <p:cNvPr descr="image.png" id="105" name="Google Shape;105;p14"/>
          <p:cNvPicPr preferRelativeResize="0"/>
          <p:nvPr/>
        </p:nvPicPr>
        <p:blipFill rotWithShape="1">
          <a:blip r:embed="rId8">
            <a:alphaModFix/>
          </a:blip>
          <a:srcRect b="0" l="0" r="0" t="0"/>
          <a:stretch/>
        </p:blipFill>
        <p:spPr>
          <a:xfrm>
            <a:off x="581025" y="4843016"/>
            <a:ext cx="219075" cy="180975"/>
          </a:xfrm>
          <a:prstGeom prst="rect">
            <a:avLst/>
          </a:prstGeom>
          <a:noFill/>
          <a:ln>
            <a:noFill/>
          </a:ln>
        </p:spPr>
      </p:pic>
      <p:sp>
        <p:nvSpPr>
          <p:cNvPr id="106" name="Google Shape;106;p14"/>
          <p:cNvSpPr txBox="1"/>
          <p:nvPr/>
        </p:nvSpPr>
        <p:spPr>
          <a:xfrm>
            <a:off x="581025" y="881360"/>
            <a:ext cx="11581447"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FFFFF"/>
                </a:solidFill>
                <a:latin typeface="Plus Jakarta Sans"/>
                <a:ea typeface="Plus Jakarta Sans"/>
                <a:cs typeface="Plus Jakarta Sans"/>
                <a:sym typeface="Plus Jakarta Sans"/>
              </a:rPr>
              <a:t>The Business </a:t>
            </a:r>
            <a:r>
              <a:rPr b="1" i="0" lang="en-US" sz="2850" u="none" cap="none" strike="noStrike">
                <a:solidFill>
                  <a:srgbClr val="14B8A6"/>
                </a:solidFill>
                <a:latin typeface="Plus Jakarta Sans"/>
                <a:ea typeface="Plus Jakarta Sans"/>
                <a:cs typeface="Plus Jakarta Sans"/>
                <a:sym typeface="Plus Jakarta Sans"/>
              </a:rPr>
              <a:t>Problem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9"/>
        </a:solidFill>
      </p:bgPr>
    </p:bg>
    <p:spTree>
      <p:nvGrpSpPr>
        <p:cNvPr id="110" name="Shape 110"/>
        <p:cNvGrpSpPr/>
        <p:nvPr/>
      </p:nvGrpSpPr>
      <p:grpSpPr>
        <a:xfrm>
          <a:off x="0" y="0"/>
          <a:ext cx="0" cy="0"/>
          <a:chOff x="0" y="0"/>
          <a:chExt cx="0" cy="0"/>
        </a:xfrm>
      </p:grpSpPr>
      <p:pic>
        <p:nvPicPr>
          <p:cNvPr descr="image.png" id="111" name="Google Shape;111;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2" name="Google Shape;112;p15"/>
          <p:cNvPicPr preferRelativeResize="0"/>
          <p:nvPr/>
        </p:nvPicPr>
        <p:blipFill rotWithShape="1">
          <a:blip r:embed="rId4">
            <a:alphaModFix/>
          </a:blip>
          <a:srcRect b="0" l="0" r="0" t="0"/>
          <a:stretch/>
        </p:blipFill>
        <p:spPr>
          <a:xfrm>
            <a:off x="581025" y="1557635"/>
            <a:ext cx="5324475" cy="4719339"/>
          </a:xfrm>
          <a:prstGeom prst="rect">
            <a:avLst/>
          </a:prstGeom>
          <a:noFill/>
          <a:ln>
            <a:noFill/>
          </a:ln>
        </p:spPr>
      </p:pic>
      <p:pic>
        <p:nvPicPr>
          <p:cNvPr descr="image.png" id="113" name="Google Shape;113;p15"/>
          <p:cNvPicPr preferRelativeResize="0"/>
          <p:nvPr/>
        </p:nvPicPr>
        <p:blipFill rotWithShape="1">
          <a:blip r:embed="rId5">
            <a:alphaModFix/>
          </a:blip>
          <a:srcRect b="0" l="0" r="0" t="0"/>
          <a:stretch/>
        </p:blipFill>
        <p:spPr>
          <a:xfrm>
            <a:off x="6286500" y="1557635"/>
            <a:ext cx="5324475" cy="4719339"/>
          </a:xfrm>
          <a:prstGeom prst="rect">
            <a:avLst/>
          </a:prstGeom>
          <a:noFill/>
          <a:ln>
            <a:noFill/>
          </a:ln>
        </p:spPr>
      </p:pic>
      <p:sp>
        <p:nvSpPr>
          <p:cNvPr id="114" name="Google Shape;114;p15"/>
          <p:cNvSpPr txBox="1"/>
          <p:nvPr/>
        </p:nvSpPr>
        <p:spPr>
          <a:xfrm>
            <a:off x="876300" y="1852910"/>
            <a:ext cx="4970621"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14B8A6"/>
                </a:solidFill>
                <a:latin typeface="Plus Jakarta Sans SemiBold"/>
                <a:ea typeface="Plus Jakarta Sans SemiBold"/>
                <a:cs typeface="Plus Jakarta Sans SemiBold"/>
                <a:sym typeface="Plus Jakarta Sans SemiBold"/>
              </a:rPr>
              <a:t>Dual-Pathway Script: `app.py`</a:t>
            </a:r>
            <a:endParaRPr/>
          </a:p>
        </p:txBody>
      </p:sp>
      <p:sp>
        <p:nvSpPr>
          <p:cNvPr id="115" name="Google Shape;115;p15"/>
          <p:cNvSpPr txBox="1"/>
          <p:nvPr/>
        </p:nvSpPr>
        <p:spPr>
          <a:xfrm>
            <a:off x="876300" y="2281535"/>
            <a:ext cx="4733925"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Plus Jakarta Sans"/>
                <a:ea typeface="Plus Jakarta Sans"/>
                <a:cs typeface="Plus Jakarta Sans"/>
                <a:sym typeface="Plus Jakarta Sans"/>
              </a:rPr>
              <a:t>A smart fail-safe routing architecture designed specifically for low-resource environments.</a:t>
            </a:r>
            <a:endParaRPr/>
          </a:p>
        </p:txBody>
      </p:sp>
      <p:sp>
        <p:nvSpPr>
          <p:cNvPr id="116" name="Google Shape;116;p15"/>
          <p:cNvSpPr txBox="1"/>
          <p:nvPr/>
        </p:nvSpPr>
        <p:spPr>
          <a:xfrm>
            <a:off x="6581775" y="1852910"/>
            <a:ext cx="4970621"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14B8A6"/>
                </a:solidFill>
                <a:latin typeface="Plus Jakarta Sans SemiBold"/>
                <a:ea typeface="Plus Jakarta Sans SemiBold"/>
                <a:cs typeface="Plus Jakarta Sans SemiBold"/>
                <a:sym typeface="Plus Jakarta Sans SemiBold"/>
              </a:rPr>
              <a:t>Backend Contract (Strict JSON)</a:t>
            </a:r>
            <a:endParaRPr/>
          </a:p>
        </p:txBody>
      </p:sp>
      <p:sp>
        <p:nvSpPr>
          <p:cNvPr id="117" name="Google Shape;117;p15"/>
          <p:cNvSpPr txBox="1"/>
          <p:nvPr/>
        </p:nvSpPr>
        <p:spPr>
          <a:xfrm>
            <a:off x="1209675" y="3026271"/>
            <a:ext cx="4400550"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FFFFFF"/>
                </a:solidFill>
                <a:latin typeface="Plus Jakarta Sans"/>
                <a:ea typeface="Plus Jakarta Sans"/>
                <a:cs typeface="Plus Jakarta Sans"/>
                <a:sym typeface="Plus Jakarta Sans"/>
              </a:rPr>
              <a:t>Cloud Pathway:</a:t>
            </a:r>
            <a:r>
              <a:rPr b="0" i="0" lang="en-US" sz="1200" u="none" cap="none" strike="noStrike">
                <a:solidFill>
                  <a:srgbClr val="94A3B8"/>
                </a:solidFill>
                <a:latin typeface="Plus Jakarta Sans"/>
                <a:ea typeface="Plus Jakarta Sans"/>
                <a:cs typeface="Plus Jakarta Sans"/>
                <a:sym typeface="Plus Jakarta Sans"/>
              </a:rPr>
              <a:t> Hits OpenRouter (GPT-4o-mini) when internet is fully active. Faster processing (~2-3s).</a:t>
            </a:r>
            <a:endParaRPr/>
          </a:p>
        </p:txBody>
      </p:sp>
      <p:sp>
        <p:nvSpPr>
          <p:cNvPr id="118" name="Google Shape;118;p15"/>
          <p:cNvSpPr txBox="1"/>
          <p:nvPr/>
        </p:nvSpPr>
        <p:spPr>
          <a:xfrm>
            <a:off x="1209675" y="3704332"/>
            <a:ext cx="4400550"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FFFFFF"/>
                </a:solidFill>
                <a:latin typeface="Plus Jakarta Sans"/>
                <a:ea typeface="Plus Jakarta Sans"/>
                <a:cs typeface="Plus Jakarta Sans"/>
                <a:sym typeface="Plus Jakarta Sans"/>
              </a:rPr>
              <a:t>Offline Edge Fallback:</a:t>
            </a:r>
            <a:r>
              <a:rPr b="0" i="0" lang="en-US" sz="1200" u="none" cap="none" strike="noStrike">
                <a:solidFill>
                  <a:srgbClr val="94A3B8"/>
                </a:solidFill>
                <a:latin typeface="Plus Jakarta Sans"/>
                <a:ea typeface="Plus Jakarta Sans"/>
                <a:cs typeface="Plus Jakarta Sans"/>
                <a:sym typeface="Plus Jakarta Sans"/>
              </a:rPr>
              <a:t> Swaps dynamically to a local Ollama instance (Llama 3.2) during timeouts or outages.</a:t>
            </a:r>
            <a:endParaRPr/>
          </a:p>
        </p:txBody>
      </p:sp>
      <p:pic>
        <p:nvPicPr>
          <p:cNvPr descr="image.png" id="119" name="Google Shape;119;p15"/>
          <p:cNvPicPr preferRelativeResize="0"/>
          <p:nvPr/>
        </p:nvPicPr>
        <p:blipFill rotWithShape="1">
          <a:blip r:embed="rId6">
            <a:alphaModFix/>
          </a:blip>
          <a:srcRect b="0" l="0" r="0" t="0"/>
          <a:stretch/>
        </p:blipFill>
        <p:spPr>
          <a:xfrm>
            <a:off x="876300" y="3059608"/>
            <a:ext cx="171450" cy="180975"/>
          </a:xfrm>
          <a:prstGeom prst="rect">
            <a:avLst/>
          </a:prstGeom>
          <a:noFill/>
          <a:ln>
            <a:noFill/>
          </a:ln>
        </p:spPr>
      </p:pic>
      <p:pic>
        <p:nvPicPr>
          <p:cNvPr descr="image.png" id="120" name="Google Shape;120;p15"/>
          <p:cNvPicPr preferRelativeResize="0"/>
          <p:nvPr/>
        </p:nvPicPr>
        <p:blipFill rotWithShape="1">
          <a:blip r:embed="rId7">
            <a:alphaModFix/>
          </a:blip>
          <a:srcRect b="0" l="0" r="0" t="0"/>
          <a:stretch/>
        </p:blipFill>
        <p:spPr>
          <a:xfrm>
            <a:off x="876300" y="3737669"/>
            <a:ext cx="171450" cy="180975"/>
          </a:xfrm>
          <a:prstGeom prst="rect">
            <a:avLst/>
          </a:prstGeom>
          <a:noFill/>
          <a:ln>
            <a:noFill/>
          </a:ln>
        </p:spPr>
      </p:pic>
      <p:sp>
        <p:nvSpPr>
          <p:cNvPr id="121" name="Google Shape;121;p15"/>
          <p:cNvSpPr txBox="1"/>
          <p:nvPr/>
        </p:nvSpPr>
        <p:spPr>
          <a:xfrm>
            <a:off x="581025" y="881360"/>
            <a:ext cx="11581447"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FFFFF"/>
                </a:solidFill>
                <a:latin typeface="Plus Jakarta Sans"/>
                <a:ea typeface="Plus Jakarta Sans"/>
                <a:cs typeface="Plus Jakarta Sans"/>
                <a:sym typeface="Plus Jakarta Sans"/>
              </a:rPr>
              <a:t>Resilient </a:t>
            </a:r>
            <a:r>
              <a:rPr b="1" i="0" lang="en-US" sz="2850" u="none" cap="none" strike="noStrike">
                <a:solidFill>
                  <a:srgbClr val="14B8A6"/>
                </a:solidFill>
                <a:latin typeface="Plus Jakarta Sans"/>
                <a:ea typeface="Plus Jakarta Sans"/>
                <a:cs typeface="Plus Jakarta Sans"/>
                <a:sym typeface="Plus Jakarta Sans"/>
              </a:rPr>
              <a:t>Triage Engine</a:t>
            </a:r>
            <a:r>
              <a:rPr b="1" i="0" lang="en-US" sz="2850" u="none" cap="none" strike="noStrike">
                <a:solidFill>
                  <a:srgbClr val="FFFFFF"/>
                </a:solidFill>
                <a:latin typeface="Plus Jakarta Sans"/>
                <a:ea typeface="Plus Jakarta Sans"/>
                <a:cs typeface="Plus Jakarta Sans"/>
                <a:sym typeface="Plus Jakarta Sans"/>
              </a:rPr>
              <a:t> Design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9"/>
        </a:solidFill>
      </p:bgPr>
    </p:bg>
    <p:spTree>
      <p:nvGrpSpPr>
        <p:cNvPr id="125" name="Shape 125"/>
        <p:cNvGrpSpPr/>
        <p:nvPr/>
      </p:nvGrpSpPr>
      <p:grpSpPr>
        <a:xfrm>
          <a:off x="0" y="0"/>
          <a:ext cx="0" cy="0"/>
          <a:chOff x="0" y="0"/>
          <a:chExt cx="0" cy="0"/>
        </a:xfrm>
      </p:grpSpPr>
      <p:pic>
        <p:nvPicPr>
          <p:cNvPr descr="image.png" id="126" name="Google Shape;126;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7" name="Google Shape;127;p16"/>
          <p:cNvPicPr preferRelativeResize="0"/>
          <p:nvPr/>
        </p:nvPicPr>
        <p:blipFill rotWithShape="1">
          <a:blip r:embed="rId4">
            <a:alphaModFix/>
          </a:blip>
          <a:srcRect b="0" l="0" r="0" t="0"/>
          <a:stretch/>
        </p:blipFill>
        <p:spPr>
          <a:xfrm>
            <a:off x="581025" y="2891581"/>
            <a:ext cx="11029950" cy="2051446"/>
          </a:xfrm>
          <a:prstGeom prst="rect">
            <a:avLst/>
          </a:prstGeom>
          <a:noFill/>
          <a:ln>
            <a:noFill/>
          </a:ln>
        </p:spPr>
      </p:pic>
      <p:sp>
        <p:nvSpPr>
          <p:cNvPr id="128" name="Google Shape;128;p16"/>
          <p:cNvSpPr/>
          <p:nvPr/>
        </p:nvSpPr>
        <p:spPr>
          <a:xfrm>
            <a:off x="590550" y="2901106"/>
            <a:ext cx="11010900" cy="2032396"/>
          </a:xfrm>
          <a:prstGeom prst="roundRect">
            <a:avLst>
              <a:gd fmla="val 0" name="adj"/>
            </a:avLst>
          </a:prstGeom>
          <a:solidFill>
            <a:srgbClr val="0F172A"/>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129" name="Google Shape;129;p16"/>
          <p:cNvGraphicFramePr/>
          <p:nvPr/>
        </p:nvGraphicFramePr>
        <p:xfrm>
          <a:off x="590550" y="2901106"/>
          <a:ext cx="3000000" cy="3000000"/>
        </p:xfrm>
        <a:graphic>
          <a:graphicData uri="http://schemas.openxmlformats.org/drawingml/2006/table">
            <a:tbl>
              <a:tblPr bandRow="1" firstRow="1">
                <a:noFill/>
                <a:tableStyleId>{29DAA5B0-17B4-4CD8-A0E0-2F7620572B73}</a:tableStyleId>
              </a:tblPr>
              <a:tblGrid>
                <a:gridCol w="1427850"/>
                <a:gridCol w="2291650"/>
                <a:gridCol w="3942450"/>
                <a:gridCol w="3348925"/>
              </a:tblGrid>
              <a:tr h="677475">
                <a:tc>
                  <a:txBody>
                    <a:bodyPr/>
                    <a:lstStyle/>
                    <a:p>
                      <a:pPr indent="0" lvl="0" marL="0" marR="0" rtl="0" algn="l">
                        <a:spcBef>
                          <a:spcPts val="0"/>
                        </a:spcBef>
                        <a:spcAft>
                          <a:spcPts val="0"/>
                        </a:spcAft>
                        <a:buNone/>
                      </a:pPr>
                      <a:r>
                        <a:rPr b="0" i="0" lang="en-US" sz="1125" u="none" cap="none" strike="noStrike">
                          <a:solidFill>
                            <a:srgbClr val="FFFFFF"/>
                          </a:solidFill>
                          <a:latin typeface="Plus Jakarta Sans SemiBold"/>
                          <a:ea typeface="Plus Jakarta Sans SemiBold"/>
                          <a:cs typeface="Plus Jakarta Sans SemiBold"/>
                          <a:sym typeface="Plus Jakarta Sans SemiBold"/>
                        </a:rPr>
                        <a:t>Pathway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293B"/>
                    </a:solidFill>
                  </a:tcPr>
                </a:tc>
                <a:tc>
                  <a:txBody>
                    <a:bodyPr/>
                    <a:lstStyle/>
                    <a:p>
                      <a:pPr indent="0" lvl="0" marL="0" marR="0" rtl="0" algn="l">
                        <a:spcBef>
                          <a:spcPts val="0"/>
                        </a:spcBef>
                        <a:spcAft>
                          <a:spcPts val="0"/>
                        </a:spcAft>
                        <a:buNone/>
                      </a:pPr>
                      <a:r>
                        <a:rPr b="0" i="0" lang="en-US" sz="1125" u="none" cap="none" strike="noStrike">
                          <a:solidFill>
                            <a:srgbClr val="FFFFFF"/>
                          </a:solidFill>
                          <a:latin typeface="Plus Jakarta Sans SemiBold"/>
                          <a:ea typeface="Plus Jakarta Sans SemiBold"/>
                          <a:cs typeface="Plus Jakarta Sans SemiBold"/>
                          <a:sym typeface="Plus Jakarta Sans SemiBold"/>
                        </a:rPr>
                        <a:t>Model Selected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293B"/>
                    </a:solidFill>
                  </a:tcPr>
                </a:tc>
                <a:tc>
                  <a:txBody>
                    <a:bodyPr/>
                    <a:lstStyle/>
                    <a:p>
                      <a:pPr indent="0" lvl="0" marL="0" marR="0" rtl="0" algn="l">
                        <a:spcBef>
                          <a:spcPts val="0"/>
                        </a:spcBef>
                        <a:spcAft>
                          <a:spcPts val="0"/>
                        </a:spcAft>
                        <a:buNone/>
                      </a:pPr>
                      <a:r>
                        <a:rPr b="0" i="0" lang="en-US" sz="1125" u="none" cap="none" strike="noStrike">
                          <a:solidFill>
                            <a:srgbClr val="FFFFFF"/>
                          </a:solidFill>
                          <a:latin typeface="Plus Jakarta Sans SemiBold"/>
                          <a:ea typeface="Plus Jakarta Sans SemiBold"/>
                          <a:cs typeface="Plus Jakarta Sans SemiBold"/>
                          <a:sym typeface="Plus Jakarta Sans SemiBold"/>
                        </a:rPr>
                        <a:t>Why We Chose It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293B"/>
                    </a:solidFill>
                  </a:tcPr>
                </a:tc>
                <a:tc>
                  <a:txBody>
                    <a:bodyPr/>
                    <a:lstStyle/>
                    <a:p>
                      <a:pPr indent="0" lvl="0" marL="0" marR="0" rtl="0" algn="l">
                        <a:spcBef>
                          <a:spcPts val="0"/>
                        </a:spcBef>
                        <a:spcAft>
                          <a:spcPts val="0"/>
                        </a:spcAft>
                        <a:buNone/>
                      </a:pPr>
                      <a:r>
                        <a:rPr b="0" i="0" lang="en-US" sz="1125" u="none" cap="none" strike="noStrike">
                          <a:solidFill>
                            <a:srgbClr val="FFFFFF"/>
                          </a:solidFill>
                          <a:latin typeface="Plus Jakarta Sans SemiBold"/>
                          <a:ea typeface="Plus Jakarta Sans SemiBold"/>
                          <a:cs typeface="Plus Jakarta Sans SemiBold"/>
                          <a:sym typeface="Plus Jakarta Sans SemiBold"/>
                        </a:rPr>
                        <a:t>Key Operational Advantage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293B"/>
                    </a:solidFill>
                  </a:tcPr>
                </a:tc>
              </a:tr>
              <a:tr h="677475">
                <a:tc>
                  <a:txBody>
                    <a:bodyPr/>
                    <a:lstStyle/>
                    <a:p>
                      <a:pPr indent="0" lvl="0" marL="0" marR="0" rtl="0" algn="l">
                        <a:spcBef>
                          <a:spcPts val="0"/>
                        </a:spcBef>
                        <a:spcAft>
                          <a:spcPts val="0"/>
                        </a:spcAft>
                        <a:buNone/>
                      </a:pPr>
                      <a:r>
                        <a:rPr b="1" i="0" lang="en-US" sz="1200" u="none" cap="none" strike="noStrike">
                          <a:solidFill>
                            <a:srgbClr val="94A3B8"/>
                          </a:solidFill>
                          <a:latin typeface="Plus Jakarta Sans"/>
                          <a:ea typeface="Plus Jakarta Sans"/>
                          <a:cs typeface="Plus Jakarta Sans"/>
                          <a:sym typeface="Plus Jakarta Sans"/>
                        </a:rPr>
                        <a:t>Cloud Primary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94A3B8"/>
                          </a:solidFill>
                          <a:latin typeface="Plus Jakarta Sans"/>
                          <a:ea typeface="Plus Jakarta Sans"/>
                          <a:cs typeface="Plus Jakarta Sans"/>
                          <a:sym typeface="Plus Jakarta Sans"/>
                        </a:rPr>
                        <a:t>openai/gpt-4o-mini via OpenRouter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94A3B8"/>
                          </a:solidFill>
                          <a:latin typeface="Plus Jakarta Sans"/>
                          <a:ea typeface="Plus Jakarta Sans"/>
                          <a:cs typeface="Plus Jakarta Sans"/>
                          <a:sym typeface="Plus Jakarta Sans"/>
                        </a:rPr>
                        <a:t>Extremely fast (~2-3s response), native structured JSON output, very cost-efficient.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94A3B8"/>
                          </a:solidFill>
                          <a:latin typeface="Plus Jakarta Sans"/>
                          <a:ea typeface="Plus Jakarta Sans"/>
                          <a:cs typeface="Plus Jakarta Sans"/>
                          <a:sym typeface="Plus Jakarta Sans"/>
                        </a:rPr>
                        <a:t>Maximum accuracy &amp; speed when clinic internet is healthy.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77475">
                <a:tc>
                  <a:txBody>
                    <a:bodyPr/>
                    <a:lstStyle/>
                    <a:p>
                      <a:pPr indent="0" lvl="0" marL="0" marR="0" rtl="0" algn="l">
                        <a:spcBef>
                          <a:spcPts val="0"/>
                        </a:spcBef>
                        <a:spcAft>
                          <a:spcPts val="0"/>
                        </a:spcAft>
                        <a:buNone/>
                      </a:pPr>
                      <a:r>
                        <a:rPr b="1" i="0" lang="en-US" sz="1200" u="none" cap="none" strike="noStrike">
                          <a:solidFill>
                            <a:srgbClr val="94A3B8"/>
                          </a:solidFill>
                          <a:latin typeface="Plus Jakarta Sans"/>
                          <a:ea typeface="Plus Jakarta Sans"/>
                          <a:cs typeface="Plus Jakarta Sans"/>
                          <a:sym typeface="Plus Jakarta Sans"/>
                        </a:rPr>
                        <a:t>Local Edge Fallback</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94A3B8"/>
                          </a:solidFill>
                          <a:latin typeface="Plus Jakarta Sans"/>
                          <a:ea typeface="Plus Jakarta Sans"/>
                          <a:cs typeface="Plus Jakarta Sans"/>
                          <a:sym typeface="Plus Jakarta Sans"/>
                        </a:rPr>
                        <a:t>llama3.2 via Ollama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94A3B8"/>
                          </a:solidFill>
                          <a:latin typeface="Plus Jakarta Sans"/>
                          <a:ea typeface="Plus Jakarta Sans"/>
                          <a:cs typeface="Plus Jakarta Sans"/>
                          <a:sym typeface="Plus Jakarta Sans"/>
                        </a:rPr>
                        <a:t>Fully local execution, light computational footprint, requires no internet or API keys.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94A3B8"/>
                          </a:solidFill>
                          <a:latin typeface="Plus Jakarta Sans"/>
                          <a:ea typeface="Plus Jakarta Sans"/>
                          <a:cs typeface="Plus Jakarta Sans"/>
                          <a:sym typeface="Plus Jakarta Sans"/>
                        </a:rPr>
                        <a:t>Zero-outage reliability. Triage stays online on standard clinic hardware.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30" name="Google Shape;130;p16"/>
          <p:cNvSpPr/>
          <p:nvPr/>
        </p:nvSpPr>
        <p:spPr>
          <a:xfrm>
            <a:off x="590550" y="3391644"/>
            <a:ext cx="1427857" cy="9525"/>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1" name="Google Shape;131;p16"/>
          <p:cNvSpPr/>
          <p:nvPr/>
        </p:nvSpPr>
        <p:spPr>
          <a:xfrm>
            <a:off x="2018407" y="3391644"/>
            <a:ext cx="2291655" cy="9525"/>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2" name="Google Shape;132;p16"/>
          <p:cNvSpPr/>
          <p:nvPr/>
        </p:nvSpPr>
        <p:spPr>
          <a:xfrm>
            <a:off x="4310062" y="3391644"/>
            <a:ext cx="3942457" cy="9525"/>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3" name="Google Shape;133;p16"/>
          <p:cNvSpPr/>
          <p:nvPr/>
        </p:nvSpPr>
        <p:spPr>
          <a:xfrm>
            <a:off x="8252519" y="3391644"/>
            <a:ext cx="3348930" cy="9525"/>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4" name="Google Shape;134;p16"/>
          <p:cNvSpPr/>
          <p:nvPr/>
        </p:nvSpPr>
        <p:spPr>
          <a:xfrm>
            <a:off x="590550" y="4164955"/>
            <a:ext cx="1427857" cy="9525"/>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5" name="Google Shape;135;p16"/>
          <p:cNvSpPr/>
          <p:nvPr/>
        </p:nvSpPr>
        <p:spPr>
          <a:xfrm>
            <a:off x="2018407" y="4164955"/>
            <a:ext cx="2291655" cy="9525"/>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6" name="Google Shape;136;p16"/>
          <p:cNvSpPr/>
          <p:nvPr/>
        </p:nvSpPr>
        <p:spPr>
          <a:xfrm>
            <a:off x="4310062" y="4164955"/>
            <a:ext cx="3942457" cy="9525"/>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7" name="Google Shape;137;p16"/>
          <p:cNvSpPr/>
          <p:nvPr/>
        </p:nvSpPr>
        <p:spPr>
          <a:xfrm>
            <a:off x="8252519" y="4164955"/>
            <a:ext cx="3348930" cy="9525"/>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8" name="Google Shape;138;p16"/>
          <p:cNvSpPr txBox="1"/>
          <p:nvPr/>
        </p:nvSpPr>
        <p:spPr>
          <a:xfrm>
            <a:off x="581025" y="881360"/>
            <a:ext cx="11581447"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FFFFF"/>
                </a:solidFill>
                <a:latin typeface="Plus Jakarta Sans"/>
                <a:ea typeface="Plus Jakarta Sans"/>
                <a:cs typeface="Plus Jakarta Sans"/>
                <a:sym typeface="Plus Jakarta Sans"/>
              </a:rPr>
              <a:t>Pathway </a:t>
            </a:r>
            <a:r>
              <a:rPr b="1" i="0" lang="en-US" sz="2850" u="none" cap="none" strike="noStrike">
                <a:solidFill>
                  <a:srgbClr val="14B8A6"/>
                </a:solidFill>
                <a:latin typeface="Plus Jakarta Sans"/>
                <a:ea typeface="Plus Jakarta Sans"/>
                <a:cs typeface="Plus Jakarta Sans"/>
                <a:sym typeface="Plus Jakarta Sans"/>
              </a:rPr>
              <a:t>Model Selection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9"/>
        </a:solidFill>
      </p:bgPr>
    </p:bg>
    <p:spTree>
      <p:nvGrpSpPr>
        <p:cNvPr id="142" name="Shape 142"/>
        <p:cNvGrpSpPr/>
        <p:nvPr/>
      </p:nvGrpSpPr>
      <p:grpSpPr>
        <a:xfrm>
          <a:off x="0" y="0"/>
          <a:ext cx="0" cy="0"/>
          <a:chOff x="0" y="0"/>
          <a:chExt cx="0" cy="0"/>
        </a:xfrm>
      </p:grpSpPr>
      <p:pic>
        <p:nvPicPr>
          <p:cNvPr descr="image.png" id="143" name="Google Shape;143;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4" name="Google Shape;144;p17"/>
          <p:cNvSpPr txBox="1"/>
          <p:nvPr/>
        </p:nvSpPr>
        <p:spPr>
          <a:xfrm>
            <a:off x="2143125" y="2534542"/>
            <a:ext cx="8239125" cy="731341"/>
          </a:xfrm>
          <a:prstGeom prst="rect">
            <a:avLst/>
          </a:prstGeom>
          <a:noFill/>
          <a:ln>
            <a:noFill/>
          </a:ln>
        </p:spPr>
        <p:txBody>
          <a:bodyPr anchorCtr="0" anchor="t" bIns="0" lIns="0" spcFirstLastPara="1" rIns="0" wrap="square" tIns="0">
            <a:spAutoFit/>
          </a:bodyPr>
          <a:lstStyle/>
          <a:p>
            <a:pPr indent="0" lvl="0" marL="0" marR="0" rtl="0" algn="l">
              <a:lnSpc>
                <a:spcPct val="106666"/>
              </a:lnSpc>
              <a:spcBef>
                <a:spcPts val="0"/>
              </a:spcBef>
              <a:spcAft>
                <a:spcPts val="0"/>
              </a:spcAft>
              <a:buNone/>
            </a:pPr>
            <a:r>
              <a:rPr b="1" i="0" lang="en-US" sz="1200" u="none" cap="none" strike="noStrike">
                <a:solidFill>
                  <a:srgbClr val="FFFFFF"/>
                </a:solidFill>
                <a:latin typeface="Plus Jakarta Sans"/>
                <a:ea typeface="Plus Jakarta Sans"/>
                <a:cs typeface="Plus Jakarta Sans"/>
                <a:sym typeface="Plus Jakarta Sans"/>
              </a:rPr>
              <a:t>V1 Basic (Zero-Shot Approach)</a:t>
            </a:r>
            <a:br>
              <a:rPr b="0" i="0" lang="en-US" sz="1800" u="none" cap="none" strike="noStrike">
                <a:solidFill>
                  <a:schemeClr val="dk1"/>
                </a:solidFill>
                <a:latin typeface="Calibri"/>
                <a:ea typeface="Calibri"/>
                <a:cs typeface="Calibri"/>
                <a:sym typeface="Calibri"/>
              </a:rPr>
            </a:br>
            <a:r>
              <a:rPr b="0" i="0" lang="en-US" sz="1200" u="none" cap="none" strike="noStrike">
                <a:solidFill>
                  <a:srgbClr val="64748B"/>
                </a:solidFill>
                <a:latin typeface="Plus Jakarta Sans"/>
                <a:ea typeface="Plus Jakarta Sans"/>
                <a:cs typeface="Plus Jakarta Sans"/>
                <a:sym typeface="Plus Jakarta Sans"/>
              </a:rPr>
              <a:t>Result: High leakage of conversational text and structural failures. Pre-processing code crashed frequently due to poorly formatted responses.</a:t>
            </a:r>
            <a:endParaRPr/>
          </a:p>
        </p:txBody>
      </p:sp>
      <p:sp>
        <p:nvSpPr>
          <p:cNvPr id="145" name="Google Shape;145;p17"/>
          <p:cNvSpPr txBox="1"/>
          <p:nvPr/>
        </p:nvSpPr>
        <p:spPr>
          <a:xfrm>
            <a:off x="2143125" y="3456384"/>
            <a:ext cx="8239125" cy="731341"/>
          </a:xfrm>
          <a:prstGeom prst="rect">
            <a:avLst/>
          </a:prstGeom>
          <a:noFill/>
          <a:ln>
            <a:noFill/>
          </a:ln>
        </p:spPr>
        <p:txBody>
          <a:bodyPr anchorCtr="0" anchor="t" bIns="0" lIns="0" spcFirstLastPara="1" rIns="0" wrap="square" tIns="0">
            <a:spAutoFit/>
          </a:bodyPr>
          <a:lstStyle/>
          <a:p>
            <a:pPr indent="0" lvl="0" marL="0" marR="0" rtl="0" algn="l">
              <a:lnSpc>
                <a:spcPct val="106666"/>
              </a:lnSpc>
              <a:spcBef>
                <a:spcPts val="0"/>
              </a:spcBef>
              <a:spcAft>
                <a:spcPts val="0"/>
              </a:spcAft>
              <a:buNone/>
            </a:pPr>
            <a:r>
              <a:rPr b="1" i="0" lang="en-US" sz="1200" u="none" cap="none" strike="noStrike">
                <a:solidFill>
                  <a:srgbClr val="FFFFFF"/>
                </a:solidFill>
                <a:latin typeface="Plus Jakarta Sans"/>
                <a:ea typeface="Plus Jakarta Sans"/>
                <a:cs typeface="Plus Jakarta Sans"/>
                <a:sym typeface="Plus Jakarta Sans"/>
              </a:rPr>
              <a:t>V2 Role (Persona + Safety Boundaries)</a:t>
            </a:r>
            <a:br>
              <a:rPr b="0" i="0" lang="en-US" sz="1800" u="none" cap="none" strike="noStrike">
                <a:solidFill>
                  <a:schemeClr val="dk1"/>
                </a:solidFill>
                <a:latin typeface="Calibri"/>
                <a:ea typeface="Calibri"/>
                <a:cs typeface="Calibri"/>
                <a:sym typeface="Calibri"/>
              </a:rPr>
            </a:br>
            <a:r>
              <a:rPr b="0" i="0" lang="en-US" sz="1200" u="none" cap="none" strike="noStrike">
                <a:solidFill>
                  <a:srgbClr val="64748B"/>
                </a:solidFill>
                <a:latin typeface="Plus Jakarta Sans"/>
                <a:ea typeface="Plus Jakarta Sans"/>
                <a:cs typeface="Plus Jakarta Sans"/>
                <a:sym typeface="Plus Jakarta Sans"/>
              </a:rPr>
              <a:t>Result: Significantly less conversational fluff, but remained susceptible to simple adversarial bypassing. Weak on compound clinical reports.</a:t>
            </a:r>
            <a:endParaRPr/>
          </a:p>
        </p:txBody>
      </p:sp>
      <p:sp>
        <p:nvSpPr>
          <p:cNvPr id="146" name="Google Shape;146;p17"/>
          <p:cNvSpPr txBox="1"/>
          <p:nvPr/>
        </p:nvSpPr>
        <p:spPr>
          <a:xfrm>
            <a:off x="2143125" y="4378225"/>
            <a:ext cx="8239125" cy="731341"/>
          </a:xfrm>
          <a:prstGeom prst="rect">
            <a:avLst/>
          </a:prstGeom>
          <a:noFill/>
          <a:ln>
            <a:noFill/>
          </a:ln>
        </p:spPr>
        <p:txBody>
          <a:bodyPr anchorCtr="0" anchor="t" bIns="0" lIns="0" spcFirstLastPara="1" rIns="0" wrap="square" tIns="0">
            <a:spAutoFit/>
          </a:bodyPr>
          <a:lstStyle/>
          <a:p>
            <a:pPr indent="0" lvl="0" marL="0" marR="0" rtl="0" algn="l">
              <a:lnSpc>
                <a:spcPct val="106666"/>
              </a:lnSpc>
              <a:spcBef>
                <a:spcPts val="0"/>
              </a:spcBef>
              <a:spcAft>
                <a:spcPts val="0"/>
              </a:spcAft>
              <a:buNone/>
            </a:pPr>
            <a:r>
              <a:rPr b="1" i="0" lang="en-US" sz="1200" u="none" cap="none" strike="noStrike">
                <a:solidFill>
                  <a:srgbClr val="FFFFFF"/>
                </a:solidFill>
                <a:latin typeface="Plus Jakarta Sans"/>
                <a:ea typeface="Plus Jakarta Sans"/>
                <a:cs typeface="Plus Jakarta Sans"/>
                <a:sym typeface="Plus Jakarta Sans"/>
              </a:rPr>
              <a:t>V3 Advanced (System Persona + CoT + Delimiter Guardrails)</a:t>
            </a:r>
            <a:br>
              <a:rPr b="0" i="0" lang="en-US" sz="1800" u="none" cap="none" strike="noStrike">
                <a:solidFill>
                  <a:schemeClr val="dk1"/>
                </a:solidFill>
                <a:latin typeface="Calibri"/>
                <a:ea typeface="Calibri"/>
                <a:cs typeface="Calibri"/>
                <a:sym typeface="Calibri"/>
              </a:rPr>
            </a:br>
            <a:r>
              <a:rPr b="0" i="0" lang="en-US" sz="1200" u="none" cap="none" strike="noStrike">
                <a:solidFill>
                  <a:srgbClr val="64748B"/>
                </a:solidFill>
                <a:latin typeface="Plus Jakarta Sans"/>
                <a:ea typeface="Plus Jakarta Sans"/>
                <a:cs typeface="Plus Jakarta Sans"/>
                <a:sym typeface="Plus Jakarta Sans"/>
              </a:rPr>
              <a:t>Result: Production ready. Delimited system rules safely wrap inputs, preventing prompt injections and strictly returning structured JSON fallbacks (never diagnosing or prescribing).</a:t>
            </a:r>
            <a:endParaRPr/>
          </a:p>
        </p:txBody>
      </p:sp>
      <p:pic>
        <p:nvPicPr>
          <p:cNvPr descr="image.png" id="147" name="Google Shape;147;p17"/>
          <p:cNvPicPr preferRelativeResize="0"/>
          <p:nvPr/>
        </p:nvPicPr>
        <p:blipFill rotWithShape="1">
          <a:blip r:embed="rId4">
            <a:alphaModFix/>
          </a:blip>
          <a:srcRect b="0" l="0" r="0" t="0"/>
          <a:stretch/>
        </p:blipFill>
        <p:spPr>
          <a:xfrm>
            <a:off x="1809750" y="2567880"/>
            <a:ext cx="171450" cy="180975"/>
          </a:xfrm>
          <a:prstGeom prst="rect">
            <a:avLst/>
          </a:prstGeom>
          <a:noFill/>
          <a:ln>
            <a:noFill/>
          </a:ln>
        </p:spPr>
      </p:pic>
      <p:pic>
        <p:nvPicPr>
          <p:cNvPr descr="image.png" id="148" name="Google Shape;148;p17"/>
          <p:cNvPicPr preferRelativeResize="0"/>
          <p:nvPr/>
        </p:nvPicPr>
        <p:blipFill rotWithShape="1">
          <a:blip r:embed="rId4">
            <a:alphaModFix/>
          </a:blip>
          <a:srcRect b="0" l="0" r="0" t="0"/>
          <a:stretch/>
        </p:blipFill>
        <p:spPr>
          <a:xfrm>
            <a:off x="1809750" y="3489721"/>
            <a:ext cx="171450" cy="180975"/>
          </a:xfrm>
          <a:prstGeom prst="rect">
            <a:avLst/>
          </a:prstGeom>
          <a:noFill/>
          <a:ln>
            <a:noFill/>
          </a:ln>
        </p:spPr>
      </p:pic>
      <p:pic>
        <p:nvPicPr>
          <p:cNvPr descr="image.png" id="149" name="Google Shape;149;p17"/>
          <p:cNvPicPr preferRelativeResize="0"/>
          <p:nvPr/>
        </p:nvPicPr>
        <p:blipFill rotWithShape="1">
          <a:blip r:embed="rId5">
            <a:alphaModFix/>
          </a:blip>
          <a:srcRect b="0" l="0" r="0" t="0"/>
          <a:stretch/>
        </p:blipFill>
        <p:spPr>
          <a:xfrm>
            <a:off x="1809750" y="4411563"/>
            <a:ext cx="171450" cy="180975"/>
          </a:xfrm>
          <a:prstGeom prst="rect">
            <a:avLst/>
          </a:prstGeom>
          <a:noFill/>
          <a:ln>
            <a:noFill/>
          </a:ln>
        </p:spPr>
      </p:pic>
      <p:sp>
        <p:nvSpPr>
          <p:cNvPr id="150" name="Google Shape;150;p17"/>
          <p:cNvSpPr txBox="1"/>
          <p:nvPr/>
        </p:nvSpPr>
        <p:spPr>
          <a:xfrm>
            <a:off x="581025" y="881360"/>
            <a:ext cx="11581447"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FFFFF"/>
                </a:solidFill>
                <a:latin typeface="Plus Jakarta Sans"/>
                <a:ea typeface="Plus Jakarta Sans"/>
                <a:cs typeface="Plus Jakarta Sans"/>
                <a:sym typeface="Plus Jakarta Sans"/>
              </a:rPr>
              <a:t>Prompt Engineering </a:t>
            </a:r>
            <a:r>
              <a:rPr b="1" i="0" lang="en-US" sz="2850" u="none" cap="none" strike="noStrike">
                <a:solidFill>
                  <a:srgbClr val="14B8A6"/>
                </a:solidFill>
                <a:latin typeface="Plus Jakarta Sans"/>
                <a:ea typeface="Plus Jakarta Sans"/>
                <a:cs typeface="Plus Jakarta Sans"/>
                <a:sym typeface="Plus Jakarta Sans"/>
              </a:rPr>
              <a:t>Evolution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9"/>
        </a:solidFill>
      </p:bgPr>
    </p:bg>
    <p:spTree>
      <p:nvGrpSpPr>
        <p:cNvPr id="154" name="Shape 154"/>
        <p:cNvGrpSpPr/>
        <p:nvPr/>
      </p:nvGrpSpPr>
      <p:grpSpPr>
        <a:xfrm>
          <a:off x="0" y="0"/>
          <a:ext cx="0" cy="0"/>
          <a:chOff x="0" y="0"/>
          <a:chExt cx="0" cy="0"/>
        </a:xfrm>
      </p:grpSpPr>
      <p:pic>
        <p:nvPicPr>
          <p:cNvPr descr="image.png" id="155" name="Google Shape;155;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6" name="Google Shape;156;p18"/>
          <p:cNvPicPr preferRelativeResize="0"/>
          <p:nvPr/>
        </p:nvPicPr>
        <p:blipFill rotWithShape="1">
          <a:blip r:embed="rId4">
            <a:alphaModFix/>
          </a:blip>
          <a:srcRect b="0" l="0" r="0" t="0"/>
          <a:stretch/>
        </p:blipFill>
        <p:spPr>
          <a:xfrm>
            <a:off x="581025" y="1557635"/>
            <a:ext cx="3524250" cy="4719339"/>
          </a:xfrm>
          <a:prstGeom prst="rect">
            <a:avLst/>
          </a:prstGeom>
          <a:noFill/>
          <a:ln>
            <a:noFill/>
          </a:ln>
        </p:spPr>
      </p:pic>
      <p:pic>
        <p:nvPicPr>
          <p:cNvPr descr="image.png" id="157" name="Google Shape;157;p18"/>
          <p:cNvPicPr preferRelativeResize="0"/>
          <p:nvPr/>
        </p:nvPicPr>
        <p:blipFill rotWithShape="1">
          <a:blip r:embed="rId5">
            <a:alphaModFix/>
          </a:blip>
          <a:srcRect b="0" l="0" r="0" t="0"/>
          <a:stretch/>
        </p:blipFill>
        <p:spPr>
          <a:xfrm>
            <a:off x="4333875" y="1557635"/>
            <a:ext cx="3524250" cy="4719339"/>
          </a:xfrm>
          <a:prstGeom prst="rect">
            <a:avLst/>
          </a:prstGeom>
          <a:noFill/>
          <a:ln>
            <a:noFill/>
          </a:ln>
        </p:spPr>
      </p:pic>
      <p:pic>
        <p:nvPicPr>
          <p:cNvPr descr="image.png" id="158" name="Google Shape;158;p18"/>
          <p:cNvPicPr preferRelativeResize="0"/>
          <p:nvPr/>
        </p:nvPicPr>
        <p:blipFill rotWithShape="1">
          <a:blip r:embed="rId6">
            <a:alphaModFix/>
          </a:blip>
          <a:srcRect b="0" l="0" r="0" t="0"/>
          <a:stretch/>
        </p:blipFill>
        <p:spPr>
          <a:xfrm>
            <a:off x="8086725" y="1557635"/>
            <a:ext cx="3524250" cy="4719339"/>
          </a:xfrm>
          <a:prstGeom prst="rect">
            <a:avLst/>
          </a:prstGeom>
          <a:noFill/>
          <a:ln>
            <a:noFill/>
          </a:ln>
        </p:spPr>
      </p:pic>
      <p:sp>
        <p:nvSpPr>
          <p:cNvPr id="159" name="Google Shape;159;p18"/>
          <p:cNvSpPr txBox="1"/>
          <p:nvPr/>
        </p:nvSpPr>
        <p:spPr>
          <a:xfrm>
            <a:off x="819150" y="2319635"/>
            <a:ext cx="3200400"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FFFFFF"/>
                </a:solidFill>
                <a:latin typeface="Plus Jakarta Sans SemiBold"/>
                <a:ea typeface="Plus Jakarta Sans SemiBold"/>
                <a:cs typeface="Plus Jakarta Sans SemiBold"/>
                <a:sym typeface="Plus Jakarta Sans SemiBold"/>
              </a:rPr>
              <a:t>Test 1: Critical Emergency</a:t>
            </a:r>
            <a:endParaRPr/>
          </a:p>
        </p:txBody>
      </p:sp>
      <p:sp>
        <p:nvSpPr>
          <p:cNvPr id="160" name="Google Shape;160;p18"/>
          <p:cNvSpPr txBox="1"/>
          <p:nvPr/>
        </p:nvSpPr>
        <p:spPr>
          <a:xfrm>
            <a:off x="819150" y="2633960"/>
            <a:ext cx="3048000" cy="2000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1" lang="en-US" sz="1050" u="none" cap="none" strike="noStrike">
                <a:solidFill>
                  <a:srgbClr val="FFFFFF"/>
                </a:solidFill>
                <a:latin typeface="Plus Jakarta Sans"/>
                <a:ea typeface="Plus Jakarta Sans"/>
                <a:cs typeface="Plus Jakarta Sans"/>
                <a:sym typeface="Plus Jakarta Sans"/>
              </a:rPr>
              <a:t>"I have severe chest pain and I cannot breathe."</a:t>
            </a:r>
            <a:endParaRPr/>
          </a:p>
        </p:txBody>
      </p:sp>
      <p:sp>
        <p:nvSpPr>
          <p:cNvPr id="161" name="Google Shape;161;p18"/>
          <p:cNvSpPr txBox="1"/>
          <p:nvPr/>
        </p:nvSpPr>
        <p:spPr>
          <a:xfrm>
            <a:off x="819150" y="2910185"/>
            <a:ext cx="3048000" cy="2000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050" u="none" cap="none" strike="noStrike">
                <a:solidFill>
                  <a:srgbClr val="94A3B8"/>
                </a:solidFill>
                <a:latin typeface="Plus Jakarta Sans"/>
                <a:ea typeface="Plus Jakarta Sans"/>
                <a:cs typeface="Plus Jakarta Sans"/>
                <a:sym typeface="Plus Jakarta Sans"/>
              </a:rPr>
              <a:t>Route:</a:t>
            </a:r>
            <a:r>
              <a:rPr b="0" i="0" lang="en-US" sz="1050" u="none" cap="none" strike="noStrike">
                <a:solidFill>
                  <a:srgbClr val="94A3B8"/>
                </a:solidFill>
                <a:latin typeface="Plus Jakarta Sans"/>
                <a:ea typeface="Plus Jakarta Sans"/>
                <a:cs typeface="Plus Jakarta Sans"/>
                <a:sym typeface="Plus Jakarta Sans"/>
              </a:rPr>
              <a:t> Emergency Services</a:t>
            </a:r>
            <a:endParaRPr/>
          </a:p>
        </p:txBody>
      </p:sp>
      <p:sp>
        <p:nvSpPr>
          <p:cNvPr id="162" name="Google Shape;162;p18"/>
          <p:cNvSpPr txBox="1"/>
          <p:nvPr/>
        </p:nvSpPr>
        <p:spPr>
          <a:xfrm>
            <a:off x="819150" y="3110210"/>
            <a:ext cx="3048000" cy="2000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050" u="none" cap="none" strike="noStrike">
                <a:solidFill>
                  <a:srgbClr val="94A3B8"/>
                </a:solidFill>
                <a:latin typeface="Plus Jakarta Sans"/>
                <a:ea typeface="Plus Jakarta Sans"/>
                <a:cs typeface="Plus Jakarta Sans"/>
                <a:sym typeface="Plus Jakarta Sans"/>
              </a:rPr>
              <a:t>Critical Flag:</a:t>
            </a:r>
            <a:r>
              <a:rPr b="0" i="0" lang="en-US" sz="1050" u="none" cap="none" strike="noStrike">
                <a:solidFill>
                  <a:srgbClr val="94A3B8"/>
                </a:solidFill>
                <a:latin typeface="Plus Jakarta Sans"/>
                <a:ea typeface="Plus Jakarta Sans"/>
                <a:cs typeface="Plus Jakarta Sans"/>
                <a:sym typeface="Plus Jakarta Sans"/>
              </a:rPr>
              <a:t> TRUE</a:t>
            </a:r>
            <a:endParaRPr/>
          </a:p>
        </p:txBody>
      </p:sp>
      <p:sp>
        <p:nvSpPr>
          <p:cNvPr id="163" name="Google Shape;163;p18"/>
          <p:cNvSpPr txBox="1"/>
          <p:nvPr/>
        </p:nvSpPr>
        <p:spPr>
          <a:xfrm>
            <a:off x="819150" y="3405485"/>
            <a:ext cx="3048000" cy="171450"/>
          </a:xfrm>
          <a:prstGeom prst="rect">
            <a:avLst/>
          </a:prstGeom>
          <a:noFill/>
          <a:ln>
            <a:noFill/>
          </a:ln>
        </p:spPr>
        <p:txBody>
          <a:bodyPr anchorCtr="0" anchor="t" bIns="0" lIns="142875" spcFirstLastPara="1" rIns="0" wrap="square" tIns="0">
            <a:spAutoFit/>
          </a:bodyPr>
          <a:lstStyle/>
          <a:p>
            <a:pPr indent="0" lvl="0" marL="0" marR="0" rtl="0" algn="l">
              <a:lnSpc>
                <a:spcPct val="150000"/>
              </a:lnSpc>
              <a:spcBef>
                <a:spcPts val="0"/>
              </a:spcBef>
              <a:spcAft>
                <a:spcPts val="0"/>
              </a:spcAft>
              <a:buNone/>
            </a:pPr>
            <a:r>
              <a:rPr b="0" i="0" lang="en-US" sz="900" u="none" cap="none" strike="noStrike">
                <a:solidFill>
                  <a:srgbClr val="14B8A6"/>
                </a:solidFill>
                <a:latin typeface="Plus Jakarta Sans"/>
                <a:ea typeface="Plus Jakarta Sans"/>
                <a:cs typeface="Plus Jakarta Sans"/>
                <a:sym typeface="Plus Jakarta Sans"/>
              </a:rPr>
              <a:t>Cloud Engine | 2714 ms</a:t>
            </a:r>
            <a:endParaRPr/>
          </a:p>
        </p:txBody>
      </p:sp>
      <p:sp>
        <p:nvSpPr>
          <p:cNvPr id="164" name="Google Shape;164;p18"/>
          <p:cNvSpPr txBox="1"/>
          <p:nvPr/>
        </p:nvSpPr>
        <p:spPr>
          <a:xfrm>
            <a:off x="4572000" y="2319635"/>
            <a:ext cx="3200400"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FFFFFF"/>
                </a:solidFill>
                <a:latin typeface="Plus Jakarta Sans SemiBold"/>
                <a:ea typeface="Plus Jakarta Sans SemiBold"/>
                <a:cs typeface="Plus Jakarta Sans SemiBold"/>
                <a:sym typeface="Plus Jakarta Sans SemiBold"/>
              </a:rPr>
              <a:t>Test 2: Routine Care</a:t>
            </a:r>
            <a:endParaRPr/>
          </a:p>
        </p:txBody>
      </p:sp>
      <p:sp>
        <p:nvSpPr>
          <p:cNvPr id="165" name="Google Shape;165;p18"/>
          <p:cNvSpPr txBox="1"/>
          <p:nvPr/>
        </p:nvSpPr>
        <p:spPr>
          <a:xfrm>
            <a:off x="4572000" y="2633960"/>
            <a:ext cx="3048000" cy="2000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1" lang="en-US" sz="1050" u="none" cap="none" strike="noStrike">
                <a:solidFill>
                  <a:srgbClr val="FFFFFF"/>
                </a:solidFill>
                <a:latin typeface="Plus Jakarta Sans"/>
                <a:ea typeface="Plus Jakarta Sans"/>
                <a:cs typeface="Plus Jakarta Sans"/>
                <a:sym typeface="Plus Jakarta Sans"/>
              </a:rPr>
              <a:t>"My child has a mild fever but is playing normally."</a:t>
            </a:r>
            <a:endParaRPr/>
          </a:p>
        </p:txBody>
      </p:sp>
      <p:sp>
        <p:nvSpPr>
          <p:cNvPr id="166" name="Google Shape;166;p18"/>
          <p:cNvSpPr txBox="1"/>
          <p:nvPr/>
        </p:nvSpPr>
        <p:spPr>
          <a:xfrm>
            <a:off x="4572000" y="3110210"/>
            <a:ext cx="3048000" cy="161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050" u="none" cap="none" strike="noStrike">
                <a:solidFill>
                  <a:srgbClr val="94A3B8"/>
                </a:solidFill>
                <a:latin typeface="Plus Jakarta Sans"/>
                <a:ea typeface="Plus Jakarta Sans"/>
                <a:cs typeface="Plus Jakarta Sans"/>
                <a:sym typeface="Plus Jakarta Sans"/>
              </a:rPr>
              <a:t>Route:</a:t>
            </a:r>
            <a:r>
              <a:rPr b="0" i="0" lang="en-US" sz="1050" u="none" cap="none" strike="noStrike">
                <a:solidFill>
                  <a:srgbClr val="94A3B8"/>
                </a:solidFill>
                <a:latin typeface="Plus Jakarta Sans"/>
                <a:ea typeface="Plus Jakarta Sans"/>
                <a:cs typeface="Plus Jakarta Sans"/>
                <a:sym typeface="Plus Jakarta Sans"/>
              </a:rPr>
              <a:t> Pediatric Care</a:t>
            </a:r>
            <a:endParaRPr/>
          </a:p>
        </p:txBody>
      </p:sp>
      <p:sp>
        <p:nvSpPr>
          <p:cNvPr id="167" name="Google Shape;167;p18"/>
          <p:cNvSpPr txBox="1"/>
          <p:nvPr/>
        </p:nvSpPr>
        <p:spPr>
          <a:xfrm>
            <a:off x="4572000" y="3319748"/>
            <a:ext cx="3048000" cy="161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050" u="none" cap="none" strike="noStrike">
                <a:solidFill>
                  <a:srgbClr val="94A3B8"/>
                </a:solidFill>
                <a:latin typeface="Plus Jakarta Sans"/>
                <a:ea typeface="Plus Jakarta Sans"/>
                <a:cs typeface="Plus Jakarta Sans"/>
                <a:sym typeface="Plus Jakarta Sans"/>
              </a:rPr>
              <a:t>Critical Flag:</a:t>
            </a:r>
            <a:r>
              <a:rPr b="0" i="0" lang="en-US" sz="1050" u="none" cap="none" strike="noStrike">
                <a:solidFill>
                  <a:srgbClr val="94A3B8"/>
                </a:solidFill>
                <a:latin typeface="Plus Jakarta Sans"/>
                <a:ea typeface="Plus Jakarta Sans"/>
                <a:cs typeface="Plus Jakarta Sans"/>
                <a:sym typeface="Plus Jakarta Sans"/>
              </a:rPr>
              <a:t> FALSE</a:t>
            </a:r>
            <a:endParaRPr/>
          </a:p>
        </p:txBody>
      </p:sp>
      <p:sp>
        <p:nvSpPr>
          <p:cNvPr id="168" name="Google Shape;168;p18"/>
          <p:cNvSpPr txBox="1"/>
          <p:nvPr/>
        </p:nvSpPr>
        <p:spPr>
          <a:xfrm>
            <a:off x="4572000" y="3586460"/>
            <a:ext cx="3048000" cy="138600"/>
          </a:xfrm>
          <a:prstGeom prst="rect">
            <a:avLst/>
          </a:prstGeom>
          <a:noFill/>
          <a:ln>
            <a:noFill/>
          </a:ln>
        </p:spPr>
        <p:txBody>
          <a:bodyPr anchorCtr="0" anchor="t" bIns="0" lIns="142875" spcFirstLastPara="1" rIns="0" wrap="square" tIns="0">
            <a:spAutoFit/>
          </a:bodyPr>
          <a:lstStyle/>
          <a:p>
            <a:pPr indent="0" lvl="0" marL="0" marR="0" rtl="0" algn="l">
              <a:lnSpc>
                <a:spcPct val="150000"/>
              </a:lnSpc>
              <a:spcBef>
                <a:spcPts val="0"/>
              </a:spcBef>
              <a:spcAft>
                <a:spcPts val="0"/>
              </a:spcAft>
              <a:buNone/>
            </a:pPr>
            <a:r>
              <a:rPr b="0" i="0" lang="en-US" sz="900" u="none" cap="none" strike="noStrike">
                <a:solidFill>
                  <a:srgbClr val="14B8A6"/>
                </a:solidFill>
                <a:latin typeface="Plus Jakarta Sans"/>
                <a:ea typeface="Plus Jakarta Sans"/>
                <a:cs typeface="Plus Jakarta Sans"/>
                <a:sym typeface="Plus Jakarta Sans"/>
              </a:rPr>
              <a:t>Cloud Engine | 3071 ms</a:t>
            </a:r>
            <a:endParaRPr/>
          </a:p>
        </p:txBody>
      </p:sp>
      <p:sp>
        <p:nvSpPr>
          <p:cNvPr id="169" name="Google Shape;169;p18"/>
          <p:cNvSpPr txBox="1"/>
          <p:nvPr/>
        </p:nvSpPr>
        <p:spPr>
          <a:xfrm>
            <a:off x="8324850" y="2319635"/>
            <a:ext cx="3200400"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FFFFFF"/>
                </a:solidFill>
                <a:latin typeface="Plus Jakarta Sans SemiBold"/>
                <a:ea typeface="Plus Jakarta Sans SemiBold"/>
                <a:cs typeface="Plus Jakarta Sans SemiBold"/>
                <a:sym typeface="Plus Jakarta Sans SemiBold"/>
              </a:rPr>
              <a:t>Test 3: Outage Fallback</a:t>
            </a:r>
            <a:endParaRPr/>
          </a:p>
        </p:txBody>
      </p:sp>
      <p:sp>
        <p:nvSpPr>
          <p:cNvPr id="170" name="Google Shape;170;p18"/>
          <p:cNvSpPr txBox="1"/>
          <p:nvPr/>
        </p:nvSpPr>
        <p:spPr>
          <a:xfrm>
            <a:off x="8324850" y="2633960"/>
            <a:ext cx="3048000" cy="4000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1" lang="en-US" sz="1050" u="none" cap="none" strike="noStrike">
                <a:solidFill>
                  <a:srgbClr val="FFFFFF"/>
                </a:solidFill>
                <a:latin typeface="Plus Jakarta Sans"/>
                <a:ea typeface="Plus Jakarta Sans"/>
                <a:cs typeface="Plus Jakarta Sans"/>
                <a:sym typeface="Plus Jakarta Sans"/>
              </a:rPr>
              <a:t>"Cloud connection severed, simulated network drop."</a:t>
            </a:r>
            <a:endParaRPr/>
          </a:p>
        </p:txBody>
      </p:sp>
      <p:sp>
        <p:nvSpPr>
          <p:cNvPr id="171" name="Google Shape;171;p18"/>
          <p:cNvSpPr txBox="1"/>
          <p:nvPr/>
        </p:nvSpPr>
        <p:spPr>
          <a:xfrm>
            <a:off x="8324850" y="3110210"/>
            <a:ext cx="3048000" cy="2000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050" u="none" cap="none" strike="noStrike">
                <a:solidFill>
                  <a:srgbClr val="94A3B8"/>
                </a:solidFill>
                <a:latin typeface="Plus Jakarta Sans"/>
                <a:ea typeface="Plus Jakarta Sans"/>
                <a:cs typeface="Plus Jakarta Sans"/>
                <a:sym typeface="Plus Jakarta Sans"/>
              </a:rPr>
              <a:t>Route:</a:t>
            </a:r>
            <a:r>
              <a:rPr b="0" i="0" lang="en-US" sz="1050" u="none" cap="none" strike="noStrike">
                <a:solidFill>
                  <a:srgbClr val="94A3B8"/>
                </a:solidFill>
                <a:latin typeface="Plus Jakarta Sans"/>
                <a:ea typeface="Plus Jakarta Sans"/>
                <a:cs typeface="Plus Jakarta Sans"/>
                <a:sym typeface="Plus Jakarta Sans"/>
              </a:rPr>
              <a:t> Active dynamic backup</a:t>
            </a:r>
            <a:endParaRPr/>
          </a:p>
        </p:txBody>
      </p:sp>
      <p:sp>
        <p:nvSpPr>
          <p:cNvPr id="172" name="Google Shape;172;p18"/>
          <p:cNvSpPr txBox="1"/>
          <p:nvPr/>
        </p:nvSpPr>
        <p:spPr>
          <a:xfrm>
            <a:off x="8324850" y="3310235"/>
            <a:ext cx="3048000" cy="2000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050" u="none" cap="none" strike="noStrike">
                <a:solidFill>
                  <a:srgbClr val="94A3B8"/>
                </a:solidFill>
                <a:latin typeface="Plus Jakarta Sans"/>
                <a:ea typeface="Plus Jakarta Sans"/>
                <a:cs typeface="Plus Jakarta Sans"/>
                <a:sym typeface="Plus Jakarta Sans"/>
              </a:rPr>
              <a:t>Fallback:</a:t>
            </a:r>
            <a:r>
              <a:rPr b="0" i="0" lang="en-US" sz="1050" u="none" cap="none" strike="noStrike">
                <a:solidFill>
                  <a:srgbClr val="94A3B8"/>
                </a:solidFill>
                <a:latin typeface="Plus Jakarta Sans"/>
                <a:ea typeface="Plus Jakarta Sans"/>
                <a:cs typeface="Plus Jakarta Sans"/>
                <a:sym typeface="Plus Jakarta Sans"/>
              </a:rPr>
              <a:t> Ollama Llama3.2</a:t>
            </a:r>
            <a:endParaRPr/>
          </a:p>
        </p:txBody>
      </p:sp>
      <p:sp>
        <p:nvSpPr>
          <p:cNvPr id="173" name="Google Shape;173;p18"/>
          <p:cNvSpPr txBox="1"/>
          <p:nvPr/>
        </p:nvSpPr>
        <p:spPr>
          <a:xfrm>
            <a:off x="8324850" y="3605510"/>
            <a:ext cx="3048000" cy="171450"/>
          </a:xfrm>
          <a:prstGeom prst="rect">
            <a:avLst/>
          </a:prstGeom>
          <a:noFill/>
          <a:ln>
            <a:noFill/>
          </a:ln>
        </p:spPr>
        <p:txBody>
          <a:bodyPr anchorCtr="0" anchor="t" bIns="0" lIns="142875" spcFirstLastPara="1" rIns="0" wrap="square" tIns="0">
            <a:spAutoFit/>
          </a:bodyPr>
          <a:lstStyle/>
          <a:p>
            <a:pPr indent="0" lvl="0" marL="0" marR="0" rtl="0" algn="l">
              <a:lnSpc>
                <a:spcPct val="150000"/>
              </a:lnSpc>
              <a:spcBef>
                <a:spcPts val="0"/>
              </a:spcBef>
              <a:spcAft>
                <a:spcPts val="0"/>
              </a:spcAft>
              <a:buNone/>
            </a:pPr>
            <a:r>
              <a:rPr b="0" i="0" lang="en-US" sz="900" u="none" cap="none" strike="noStrike">
                <a:solidFill>
                  <a:srgbClr val="10B981"/>
                </a:solidFill>
                <a:latin typeface="Plus Jakarta Sans"/>
                <a:ea typeface="Plus Jakarta Sans"/>
                <a:cs typeface="Plus Jakarta Sans"/>
                <a:sym typeface="Plus Jakarta Sans"/>
              </a:rPr>
              <a:t>Local Engine | Offline-safe</a:t>
            </a:r>
            <a:endParaRPr/>
          </a:p>
        </p:txBody>
      </p:sp>
      <p:pic>
        <p:nvPicPr>
          <p:cNvPr descr="image.png" id="174" name="Google Shape;174;p18"/>
          <p:cNvPicPr preferRelativeResize="0"/>
          <p:nvPr/>
        </p:nvPicPr>
        <p:blipFill rotWithShape="1">
          <a:blip r:embed="rId7">
            <a:alphaModFix/>
          </a:blip>
          <a:srcRect b="0" l="0" r="0" t="0"/>
          <a:stretch/>
        </p:blipFill>
        <p:spPr>
          <a:xfrm>
            <a:off x="819150" y="1843385"/>
            <a:ext cx="381000" cy="304800"/>
          </a:xfrm>
          <a:prstGeom prst="rect">
            <a:avLst/>
          </a:prstGeom>
          <a:noFill/>
          <a:ln>
            <a:noFill/>
          </a:ln>
        </p:spPr>
      </p:pic>
      <p:pic>
        <p:nvPicPr>
          <p:cNvPr descr="image.png" id="175" name="Google Shape;175;p18"/>
          <p:cNvPicPr preferRelativeResize="0"/>
          <p:nvPr/>
        </p:nvPicPr>
        <p:blipFill rotWithShape="1">
          <a:blip r:embed="rId8">
            <a:alphaModFix/>
          </a:blip>
          <a:srcRect b="0" l="0" r="0" t="0"/>
          <a:stretch/>
        </p:blipFill>
        <p:spPr>
          <a:xfrm>
            <a:off x="819150" y="3434060"/>
            <a:ext cx="142875" cy="114300"/>
          </a:xfrm>
          <a:prstGeom prst="rect">
            <a:avLst/>
          </a:prstGeom>
          <a:noFill/>
          <a:ln>
            <a:noFill/>
          </a:ln>
        </p:spPr>
      </p:pic>
      <p:pic>
        <p:nvPicPr>
          <p:cNvPr descr="image.png" id="176" name="Google Shape;176;p18"/>
          <p:cNvPicPr preferRelativeResize="0"/>
          <p:nvPr/>
        </p:nvPicPr>
        <p:blipFill rotWithShape="1">
          <a:blip r:embed="rId9">
            <a:alphaModFix/>
          </a:blip>
          <a:srcRect b="0" l="0" r="0" t="0"/>
          <a:stretch/>
        </p:blipFill>
        <p:spPr>
          <a:xfrm>
            <a:off x="4572000" y="1843385"/>
            <a:ext cx="266700" cy="304800"/>
          </a:xfrm>
          <a:prstGeom prst="rect">
            <a:avLst/>
          </a:prstGeom>
          <a:noFill/>
          <a:ln>
            <a:noFill/>
          </a:ln>
        </p:spPr>
      </p:pic>
      <p:pic>
        <p:nvPicPr>
          <p:cNvPr descr="image.png" id="177" name="Google Shape;177;p18"/>
          <p:cNvPicPr preferRelativeResize="0"/>
          <p:nvPr/>
        </p:nvPicPr>
        <p:blipFill rotWithShape="1">
          <a:blip r:embed="rId10">
            <a:alphaModFix/>
          </a:blip>
          <a:srcRect b="0" l="0" r="0" t="0"/>
          <a:stretch/>
        </p:blipFill>
        <p:spPr>
          <a:xfrm>
            <a:off x="4572000" y="3598610"/>
            <a:ext cx="142875" cy="114300"/>
          </a:xfrm>
          <a:prstGeom prst="rect">
            <a:avLst/>
          </a:prstGeom>
          <a:noFill/>
          <a:ln>
            <a:noFill/>
          </a:ln>
        </p:spPr>
      </p:pic>
      <p:pic>
        <p:nvPicPr>
          <p:cNvPr descr="image.png" id="178" name="Google Shape;178;p18"/>
          <p:cNvPicPr preferRelativeResize="0"/>
          <p:nvPr/>
        </p:nvPicPr>
        <p:blipFill rotWithShape="1">
          <a:blip r:embed="rId11">
            <a:alphaModFix/>
          </a:blip>
          <a:srcRect b="0" l="0" r="0" t="0"/>
          <a:stretch/>
        </p:blipFill>
        <p:spPr>
          <a:xfrm>
            <a:off x="8324850" y="1843385"/>
            <a:ext cx="342900" cy="304800"/>
          </a:xfrm>
          <a:prstGeom prst="rect">
            <a:avLst/>
          </a:prstGeom>
          <a:noFill/>
          <a:ln>
            <a:noFill/>
          </a:ln>
        </p:spPr>
      </p:pic>
      <p:pic>
        <p:nvPicPr>
          <p:cNvPr descr="image.png" id="179" name="Google Shape;179;p18"/>
          <p:cNvPicPr preferRelativeResize="0"/>
          <p:nvPr/>
        </p:nvPicPr>
        <p:blipFill rotWithShape="1">
          <a:blip r:embed="rId12">
            <a:alphaModFix/>
          </a:blip>
          <a:srcRect b="0" l="0" r="0" t="0"/>
          <a:stretch/>
        </p:blipFill>
        <p:spPr>
          <a:xfrm>
            <a:off x="8324850" y="3634085"/>
            <a:ext cx="142875" cy="114300"/>
          </a:xfrm>
          <a:prstGeom prst="rect">
            <a:avLst/>
          </a:prstGeom>
          <a:noFill/>
          <a:ln>
            <a:noFill/>
          </a:ln>
        </p:spPr>
      </p:pic>
      <p:sp>
        <p:nvSpPr>
          <p:cNvPr id="180" name="Google Shape;180;p18"/>
          <p:cNvSpPr txBox="1"/>
          <p:nvPr/>
        </p:nvSpPr>
        <p:spPr>
          <a:xfrm>
            <a:off x="581025" y="881360"/>
            <a:ext cx="11581447"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FFFFF"/>
                </a:solidFill>
                <a:latin typeface="Plus Jakarta Sans"/>
                <a:ea typeface="Plus Jakarta Sans"/>
                <a:cs typeface="Plus Jakarta Sans"/>
                <a:sym typeface="Plus Jakarta Sans"/>
              </a:rPr>
              <a:t>Live Engine </a:t>
            </a:r>
            <a:r>
              <a:rPr b="1" i="0" lang="en-US" sz="2850" u="none" cap="none" strike="noStrike">
                <a:solidFill>
                  <a:srgbClr val="14B8A6"/>
                </a:solidFill>
                <a:latin typeface="Plus Jakarta Sans"/>
                <a:ea typeface="Plus Jakarta Sans"/>
                <a:cs typeface="Plus Jakarta Sans"/>
                <a:sym typeface="Plus Jakarta Sans"/>
              </a:rPr>
              <a:t>Execution Outputs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9"/>
        </a:solidFill>
      </p:bgPr>
    </p:bg>
    <p:spTree>
      <p:nvGrpSpPr>
        <p:cNvPr id="184" name="Shape 184"/>
        <p:cNvGrpSpPr/>
        <p:nvPr/>
      </p:nvGrpSpPr>
      <p:grpSpPr>
        <a:xfrm>
          <a:off x="0" y="0"/>
          <a:ext cx="0" cy="0"/>
          <a:chOff x="0" y="0"/>
          <a:chExt cx="0" cy="0"/>
        </a:xfrm>
      </p:grpSpPr>
      <p:pic>
        <p:nvPicPr>
          <p:cNvPr descr="image.png" id="185" name="Google Shape;185;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86" name="Google Shape;186;p19"/>
          <p:cNvPicPr preferRelativeResize="0"/>
          <p:nvPr/>
        </p:nvPicPr>
        <p:blipFill rotWithShape="1">
          <a:blip r:embed="rId4">
            <a:alphaModFix/>
          </a:blip>
          <a:srcRect b="0" l="0" r="0" t="0"/>
          <a:stretch/>
        </p:blipFill>
        <p:spPr>
          <a:xfrm>
            <a:off x="581025" y="1557635"/>
            <a:ext cx="11029950" cy="4719339"/>
          </a:xfrm>
          <a:prstGeom prst="rect">
            <a:avLst/>
          </a:prstGeom>
          <a:noFill/>
          <a:ln>
            <a:noFill/>
          </a:ln>
        </p:spPr>
      </p:pic>
      <p:sp>
        <p:nvSpPr>
          <p:cNvPr id="187" name="Google Shape;187;p19"/>
          <p:cNvSpPr txBox="1"/>
          <p:nvPr/>
        </p:nvSpPr>
        <p:spPr>
          <a:xfrm>
            <a:off x="581025" y="4235499"/>
            <a:ext cx="11029950" cy="4875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1" lang="en-US" sz="1200" u="none" cap="none" strike="noStrike">
                <a:solidFill>
                  <a:srgbClr val="94A3B8"/>
                </a:solidFill>
                <a:latin typeface="Plus Jakarta Sans"/>
                <a:ea typeface="Plus Jakarta Sans"/>
                <a:cs typeface="Plus Jakarta Sans"/>
                <a:sym typeface="Plus Jakarta Sans"/>
              </a:rPr>
              <a:t>Cloud is 2-3x faster than edge hardware. Cloud timeout is strictly capped at 4.0 seconds (as per capstone guidelines) before dynamically triggering the local fallback flow. All unit schemas, validation, and clients successfully pass.</a:t>
            </a:r>
            <a:endParaRPr/>
          </a:p>
        </p:txBody>
      </p:sp>
      <p:sp>
        <p:nvSpPr>
          <p:cNvPr id="188" name="Google Shape;188;p19"/>
          <p:cNvSpPr txBox="1"/>
          <p:nvPr/>
        </p:nvSpPr>
        <p:spPr>
          <a:xfrm>
            <a:off x="581025" y="881360"/>
            <a:ext cx="11581447"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FFFFF"/>
                </a:solidFill>
                <a:latin typeface="Plus Jakarta Sans"/>
                <a:ea typeface="Plus Jakarta Sans"/>
                <a:cs typeface="Plus Jakarta Sans"/>
                <a:sym typeface="Plus Jakarta Sans"/>
              </a:rPr>
              <a:t>Latency &amp; </a:t>
            </a:r>
            <a:r>
              <a:rPr b="1" i="0" lang="en-US" sz="2850" u="none" cap="none" strike="noStrike">
                <a:solidFill>
                  <a:srgbClr val="14B8A6"/>
                </a:solidFill>
                <a:latin typeface="Plus Jakarta Sans"/>
                <a:ea typeface="Plus Jakarta Sans"/>
                <a:cs typeface="Plus Jakarta Sans"/>
                <a:sym typeface="Plus Jakarta Sans"/>
              </a:rPr>
              <a:t>Throughput Trade-offs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9"/>
        </a:solidFill>
      </p:bgPr>
    </p:bg>
    <p:spTree>
      <p:nvGrpSpPr>
        <p:cNvPr id="192" name="Shape 192"/>
        <p:cNvGrpSpPr/>
        <p:nvPr/>
      </p:nvGrpSpPr>
      <p:grpSpPr>
        <a:xfrm>
          <a:off x="0" y="0"/>
          <a:ext cx="0" cy="0"/>
          <a:chOff x="0" y="0"/>
          <a:chExt cx="0" cy="0"/>
        </a:xfrm>
      </p:grpSpPr>
      <p:pic>
        <p:nvPicPr>
          <p:cNvPr descr="image.png" id="193" name="Google Shape;193;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94" name="Google Shape;194;p20"/>
          <p:cNvPicPr preferRelativeResize="0"/>
          <p:nvPr/>
        </p:nvPicPr>
        <p:blipFill rotWithShape="1">
          <a:blip r:embed="rId4">
            <a:alphaModFix/>
          </a:blip>
          <a:srcRect b="0" l="0" r="0" t="0"/>
          <a:stretch/>
        </p:blipFill>
        <p:spPr>
          <a:xfrm>
            <a:off x="581025" y="2132558"/>
            <a:ext cx="11029950" cy="3569493"/>
          </a:xfrm>
          <a:prstGeom prst="rect">
            <a:avLst/>
          </a:prstGeom>
          <a:noFill/>
          <a:ln>
            <a:noFill/>
          </a:ln>
        </p:spPr>
      </p:pic>
      <p:sp>
        <p:nvSpPr>
          <p:cNvPr id="195" name="Google Shape;195;p20"/>
          <p:cNvSpPr/>
          <p:nvPr/>
        </p:nvSpPr>
        <p:spPr>
          <a:xfrm>
            <a:off x="590550" y="2142083"/>
            <a:ext cx="11010900" cy="3550443"/>
          </a:xfrm>
          <a:prstGeom prst="roundRect">
            <a:avLst>
              <a:gd fmla="val 0" name="adj"/>
            </a:avLst>
          </a:prstGeom>
          <a:solidFill>
            <a:srgbClr val="0F172A"/>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196" name="Google Shape;196;p20"/>
          <p:cNvGraphicFramePr/>
          <p:nvPr/>
        </p:nvGraphicFramePr>
        <p:xfrm>
          <a:off x="590550" y="2142083"/>
          <a:ext cx="3000000" cy="3000000"/>
        </p:xfrm>
        <a:graphic>
          <a:graphicData uri="http://schemas.openxmlformats.org/drawingml/2006/table">
            <a:tbl>
              <a:tblPr bandRow="1" firstRow="1">
                <a:noFill/>
                <a:tableStyleId>{29DAA5B0-17B4-4CD8-A0E0-2F7620572B73}</a:tableStyleId>
              </a:tblPr>
              <a:tblGrid>
                <a:gridCol w="2032400"/>
                <a:gridCol w="4803425"/>
                <a:gridCol w="4175075"/>
              </a:tblGrid>
              <a:tr h="710100">
                <a:tc>
                  <a:txBody>
                    <a:bodyPr/>
                    <a:lstStyle/>
                    <a:p>
                      <a:pPr indent="0" lvl="0" marL="0" marR="0" rtl="0" algn="l">
                        <a:spcBef>
                          <a:spcPts val="0"/>
                        </a:spcBef>
                        <a:spcAft>
                          <a:spcPts val="0"/>
                        </a:spcAft>
                        <a:buNone/>
                      </a:pPr>
                      <a:r>
                        <a:rPr b="0" i="0" lang="en-US" sz="1125" u="none" cap="none" strike="noStrike">
                          <a:solidFill>
                            <a:srgbClr val="FFFFFF"/>
                          </a:solidFill>
                          <a:latin typeface="Plus Jakarta Sans SemiBold"/>
                          <a:ea typeface="Plus Jakarta Sans SemiBold"/>
                          <a:cs typeface="Plus Jakarta Sans SemiBold"/>
                          <a:sym typeface="Plus Jakarta Sans SemiBold"/>
                        </a:rPr>
                        <a:t>Key Risk</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293B"/>
                    </a:solidFill>
                  </a:tcPr>
                </a:tc>
                <a:tc>
                  <a:txBody>
                    <a:bodyPr/>
                    <a:lstStyle/>
                    <a:p>
                      <a:pPr indent="0" lvl="0" marL="0" marR="0" rtl="0" algn="l">
                        <a:spcBef>
                          <a:spcPts val="0"/>
                        </a:spcBef>
                        <a:spcAft>
                          <a:spcPts val="0"/>
                        </a:spcAft>
                        <a:buNone/>
                      </a:pPr>
                      <a:r>
                        <a:rPr b="0" i="0" lang="en-US" sz="1125" u="none" cap="none" strike="noStrike">
                          <a:solidFill>
                            <a:srgbClr val="FFFFFF"/>
                          </a:solidFill>
                          <a:latin typeface="Plus Jakarta Sans SemiBold"/>
                          <a:ea typeface="Plus Jakarta Sans SemiBold"/>
                          <a:cs typeface="Plus Jakarta Sans SemiBold"/>
                          <a:sym typeface="Plus Jakarta Sans SemiBold"/>
                        </a:rPr>
                        <a:t>Mitigation Action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293B"/>
                    </a:solidFill>
                  </a:tcPr>
                </a:tc>
                <a:tc>
                  <a:txBody>
                    <a:bodyPr/>
                    <a:lstStyle/>
                    <a:p>
                      <a:pPr indent="0" lvl="0" marL="0" marR="0" rtl="0" algn="l">
                        <a:spcBef>
                          <a:spcPts val="0"/>
                        </a:spcBef>
                        <a:spcAft>
                          <a:spcPts val="0"/>
                        </a:spcAft>
                        <a:buNone/>
                      </a:pPr>
                      <a:r>
                        <a:rPr b="0" i="0" lang="en-US" sz="1125" u="none" cap="none" strike="noStrike">
                          <a:solidFill>
                            <a:srgbClr val="FFFFFF"/>
                          </a:solidFill>
                          <a:latin typeface="Plus Jakarta Sans SemiBold"/>
                          <a:ea typeface="Plus Jakarta Sans SemiBold"/>
                          <a:cs typeface="Plus Jakarta Sans SemiBold"/>
                          <a:sym typeface="Plus Jakarta Sans SemiBold"/>
                        </a:rPr>
                        <a:t>Residual Risk Profile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293B"/>
                    </a:solidFill>
                  </a:tcPr>
                </a:tc>
              </a:tr>
              <a:tr h="710100">
                <a:tc>
                  <a:txBody>
                    <a:bodyPr/>
                    <a:lstStyle/>
                    <a:p>
                      <a:pPr indent="0" lvl="0" marL="0" marR="0" rtl="0" algn="l">
                        <a:spcBef>
                          <a:spcPts val="0"/>
                        </a:spcBef>
                        <a:spcAft>
                          <a:spcPts val="0"/>
                        </a:spcAft>
                        <a:buNone/>
                      </a:pPr>
                      <a:r>
                        <a:rPr b="1" i="0" lang="en-US" sz="1200" u="none" cap="none" strike="noStrike">
                          <a:solidFill>
                            <a:srgbClr val="94A3B8"/>
                          </a:solidFill>
                          <a:latin typeface="Plus Jakarta Sans"/>
                          <a:ea typeface="Plus Jakarta Sans"/>
                          <a:cs typeface="Plus Jakarta Sans"/>
                          <a:sym typeface="Plus Jakarta Sans"/>
                        </a:rPr>
                        <a:t>Model Hallucination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94A3B8"/>
                          </a:solidFill>
                          <a:latin typeface="Plus Jakarta Sans"/>
                          <a:ea typeface="Plus Jakarta Sans"/>
                          <a:cs typeface="Plus Jakarta Sans"/>
                          <a:sym typeface="Plus Jakarta Sans"/>
                        </a:rPr>
                        <a:t>CoT system rules strictly prohibiting diagnosis/dosage output.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94A3B8"/>
                          </a:solidFill>
                          <a:latin typeface="Plus Jakarta Sans"/>
                          <a:ea typeface="Plus Jakarta Sans"/>
                          <a:cs typeface="Plus Jakarta Sans"/>
                          <a:sym typeface="Plus Jakarta Sans"/>
                        </a:rPr>
                        <a:t>Clinician review required (routing tool, not diagnostic).</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10100">
                <a:tc>
                  <a:txBody>
                    <a:bodyPr/>
                    <a:lstStyle/>
                    <a:p>
                      <a:pPr indent="0" lvl="0" marL="0" marR="0" rtl="0" algn="l">
                        <a:spcBef>
                          <a:spcPts val="0"/>
                        </a:spcBef>
                        <a:spcAft>
                          <a:spcPts val="0"/>
                        </a:spcAft>
                        <a:buNone/>
                      </a:pPr>
                      <a:r>
                        <a:rPr b="1" i="0" lang="en-US" sz="1200" u="none" cap="none" strike="noStrike">
                          <a:solidFill>
                            <a:srgbClr val="94A3B8"/>
                          </a:solidFill>
                          <a:latin typeface="Plus Jakarta Sans"/>
                          <a:ea typeface="Plus Jakarta Sans"/>
                          <a:cs typeface="Plus Jakarta Sans"/>
                          <a:sym typeface="Plus Jakarta Sans"/>
                        </a:rPr>
                        <a:t>Prompt Injection Attacks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94A3B8"/>
                          </a:solidFill>
                          <a:latin typeface="Plus Jakarta Sans"/>
                          <a:ea typeface="Plus Jakarta Sans"/>
                          <a:cs typeface="Plus Jakarta Sans"/>
                          <a:sym typeface="Plus Jakarta Sans"/>
                        </a:rPr>
                        <a:t>Delimited user input wrapper blocks and rigid fallback JSON rules.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94A3B8"/>
                          </a:solidFill>
                          <a:latin typeface="Plus Jakarta Sans"/>
                          <a:ea typeface="Plus Jakarta Sans"/>
                          <a:cs typeface="Plus Jakarta Sans"/>
                          <a:sym typeface="Plus Jakarta Sans"/>
                        </a:rPr>
                        <a:t>Requires comprehensive security sandboxing in future phases.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10100">
                <a:tc>
                  <a:txBody>
                    <a:bodyPr/>
                    <a:lstStyle/>
                    <a:p>
                      <a:pPr indent="0" lvl="0" marL="0" marR="0" rtl="0" algn="l">
                        <a:spcBef>
                          <a:spcPts val="0"/>
                        </a:spcBef>
                        <a:spcAft>
                          <a:spcPts val="0"/>
                        </a:spcAft>
                        <a:buNone/>
                      </a:pPr>
                      <a:r>
                        <a:rPr b="1" i="0" lang="en-US" sz="1200" u="none" cap="none" strike="noStrike">
                          <a:solidFill>
                            <a:srgbClr val="94A3B8"/>
                          </a:solidFill>
                          <a:latin typeface="Plus Jakarta Sans"/>
                          <a:ea typeface="Plus Jakarta Sans"/>
                          <a:cs typeface="Plus Jakarta Sans"/>
                          <a:sym typeface="Plus Jakarta Sans"/>
                        </a:rPr>
                        <a:t>Cloud Connectivity Loss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94A3B8"/>
                          </a:solidFill>
                          <a:latin typeface="Plus Jakarta Sans"/>
                          <a:ea typeface="Plus Jakarta Sans"/>
                          <a:cs typeface="Plus Jakarta Sans"/>
                          <a:sym typeface="Plus Jakarta Sans"/>
                        </a:rPr>
                        <a:t>Instant dynamic fallback logic to local Ollama.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94A3B8"/>
                          </a:solidFill>
                          <a:latin typeface="Plus Jakarta Sans"/>
                          <a:ea typeface="Plus Jakarta Sans"/>
                          <a:cs typeface="Plus Jakarta Sans"/>
                          <a:sym typeface="Plus Jakarta Sans"/>
                        </a:rPr>
                        <a:t>Local Llama-3.2 is slower, with slightly lower context accuracy.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10100">
                <a:tc>
                  <a:txBody>
                    <a:bodyPr/>
                    <a:lstStyle/>
                    <a:p>
                      <a:pPr indent="0" lvl="0" marL="0" marR="0" rtl="0" algn="l">
                        <a:spcBef>
                          <a:spcPts val="0"/>
                        </a:spcBef>
                        <a:spcAft>
                          <a:spcPts val="0"/>
                        </a:spcAft>
                        <a:buNone/>
                      </a:pPr>
                      <a:r>
                        <a:rPr b="1" i="0" lang="en-US" sz="1200" u="none" cap="none" strike="noStrike">
                          <a:solidFill>
                            <a:srgbClr val="94A3B8"/>
                          </a:solidFill>
                          <a:latin typeface="Plus Jakarta Sans"/>
                          <a:ea typeface="Plus Jakarta Sans"/>
                          <a:cs typeface="Plus Jakarta Sans"/>
                          <a:sym typeface="Plus Jakarta Sans"/>
                        </a:rPr>
                        <a:t>Misrouted Emergency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94A3B8"/>
                          </a:solidFill>
                          <a:latin typeface="Plus Jakarta Sans"/>
                          <a:ea typeface="Plus Jakarta Sans"/>
                          <a:cs typeface="Plus Jakarta Sans"/>
                          <a:sym typeface="Plus Jakarta Sans"/>
                        </a:rPr>
                        <a:t>Aggressive schema enforcement ensuring high sensitivity to critical tags.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94A3B8"/>
                          </a:solidFill>
                          <a:latin typeface="Plus Jakarta Sans"/>
                          <a:ea typeface="Plus Jakarta Sans"/>
                          <a:cs typeface="Plus Jakarta Sans"/>
                          <a:sym typeface="Plus Jakarta Sans"/>
                        </a:rPr>
                        <a:t>Borderline cases are flagged directly to active standby nurses.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97" name="Google Shape;197;p20"/>
          <p:cNvSpPr/>
          <p:nvPr/>
        </p:nvSpPr>
        <p:spPr>
          <a:xfrm>
            <a:off x="590550" y="2632620"/>
            <a:ext cx="2032396" cy="9525"/>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8" name="Google Shape;198;p20"/>
          <p:cNvSpPr/>
          <p:nvPr/>
        </p:nvSpPr>
        <p:spPr>
          <a:xfrm>
            <a:off x="2622946" y="2632620"/>
            <a:ext cx="4803427" cy="9525"/>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9" name="Google Shape;199;p20"/>
          <p:cNvSpPr/>
          <p:nvPr/>
        </p:nvSpPr>
        <p:spPr>
          <a:xfrm>
            <a:off x="7426374" y="2632620"/>
            <a:ext cx="4175075" cy="9525"/>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0" name="Google Shape;200;p20"/>
          <p:cNvSpPr/>
          <p:nvPr/>
        </p:nvSpPr>
        <p:spPr>
          <a:xfrm>
            <a:off x="590550" y="3396406"/>
            <a:ext cx="2032396" cy="9525"/>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1" name="Google Shape;201;p20"/>
          <p:cNvSpPr/>
          <p:nvPr/>
        </p:nvSpPr>
        <p:spPr>
          <a:xfrm>
            <a:off x="2622946" y="3396406"/>
            <a:ext cx="4803427" cy="9525"/>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2" name="Google Shape;202;p20"/>
          <p:cNvSpPr/>
          <p:nvPr/>
        </p:nvSpPr>
        <p:spPr>
          <a:xfrm>
            <a:off x="7426374" y="3396406"/>
            <a:ext cx="4175075" cy="9525"/>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3" name="Google Shape;203;p20"/>
          <p:cNvSpPr/>
          <p:nvPr/>
        </p:nvSpPr>
        <p:spPr>
          <a:xfrm>
            <a:off x="590550" y="4160192"/>
            <a:ext cx="2032396" cy="9525"/>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4" name="Google Shape;204;p20"/>
          <p:cNvSpPr/>
          <p:nvPr/>
        </p:nvSpPr>
        <p:spPr>
          <a:xfrm>
            <a:off x="2622946" y="4160192"/>
            <a:ext cx="4803427" cy="9525"/>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5" name="Google Shape;205;p20"/>
          <p:cNvSpPr/>
          <p:nvPr/>
        </p:nvSpPr>
        <p:spPr>
          <a:xfrm>
            <a:off x="7426374" y="4160192"/>
            <a:ext cx="4175075" cy="9525"/>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6" name="Google Shape;206;p20"/>
          <p:cNvSpPr/>
          <p:nvPr/>
        </p:nvSpPr>
        <p:spPr>
          <a:xfrm>
            <a:off x="590550" y="4923978"/>
            <a:ext cx="2032396" cy="9525"/>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7" name="Google Shape;207;p20"/>
          <p:cNvSpPr/>
          <p:nvPr/>
        </p:nvSpPr>
        <p:spPr>
          <a:xfrm>
            <a:off x="2622946" y="4923978"/>
            <a:ext cx="4803427" cy="9525"/>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8" name="Google Shape;208;p20"/>
          <p:cNvSpPr/>
          <p:nvPr/>
        </p:nvSpPr>
        <p:spPr>
          <a:xfrm>
            <a:off x="7426374" y="4923978"/>
            <a:ext cx="4175075" cy="9525"/>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9" name="Google Shape;209;p20"/>
          <p:cNvSpPr txBox="1"/>
          <p:nvPr/>
        </p:nvSpPr>
        <p:spPr>
          <a:xfrm>
            <a:off x="581025" y="881360"/>
            <a:ext cx="11581447"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FFFFF"/>
                </a:solidFill>
                <a:latin typeface="Plus Jakarta Sans"/>
                <a:ea typeface="Plus Jakarta Sans"/>
                <a:cs typeface="Plus Jakarta Sans"/>
                <a:sym typeface="Plus Jakarta Sans"/>
              </a:rPr>
              <a:t>Operational </a:t>
            </a:r>
            <a:r>
              <a:rPr b="1" i="0" lang="en-US" sz="2850" u="none" cap="none" strike="noStrike">
                <a:solidFill>
                  <a:srgbClr val="14B8A6"/>
                </a:solidFill>
                <a:latin typeface="Plus Jakarta Sans"/>
                <a:ea typeface="Plus Jakarta Sans"/>
                <a:cs typeface="Plus Jakarta Sans"/>
                <a:sym typeface="Plus Jakarta Sans"/>
              </a:rPr>
              <a:t>Risks &amp; Mitigations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9"/>
        </a:solidFill>
      </p:bgPr>
    </p:bg>
    <p:spTree>
      <p:nvGrpSpPr>
        <p:cNvPr id="213" name="Shape 213"/>
        <p:cNvGrpSpPr/>
        <p:nvPr/>
      </p:nvGrpSpPr>
      <p:grpSpPr>
        <a:xfrm>
          <a:off x="0" y="0"/>
          <a:ext cx="0" cy="0"/>
          <a:chOff x="0" y="0"/>
          <a:chExt cx="0" cy="0"/>
        </a:xfrm>
      </p:grpSpPr>
      <p:pic>
        <p:nvPicPr>
          <p:cNvPr descr="image.png" id="214" name="Google Shape;214;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15" name="Google Shape;215;p21"/>
          <p:cNvPicPr preferRelativeResize="0"/>
          <p:nvPr/>
        </p:nvPicPr>
        <p:blipFill rotWithShape="1">
          <a:blip r:embed="rId4">
            <a:alphaModFix/>
          </a:blip>
          <a:srcRect b="0" l="0" r="0" t="0"/>
          <a:stretch/>
        </p:blipFill>
        <p:spPr>
          <a:xfrm>
            <a:off x="581025" y="4250680"/>
            <a:ext cx="2426493" cy="1119782"/>
          </a:xfrm>
          <a:prstGeom prst="rect">
            <a:avLst/>
          </a:prstGeom>
          <a:noFill/>
          <a:ln>
            <a:noFill/>
          </a:ln>
        </p:spPr>
      </p:pic>
      <p:pic>
        <p:nvPicPr>
          <p:cNvPr descr="image.png" id="216" name="Google Shape;216;p21"/>
          <p:cNvPicPr preferRelativeResize="0"/>
          <p:nvPr/>
        </p:nvPicPr>
        <p:blipFill rotWithShape="1">
          <a:blip r:embed="rId5">
            <a:alphaModFix/>
          </a:blip>
          <a:srcRect b="0" l="0" r="0" t="0"/>
          <a:stretch/>
        </p:blipFill>
        <p:spPr>
          <a:xfrm>
            <a:off x="3448794" y="2481411"/>
            <a:ext cx="2426493" cy="1293018"/>
          </a:xfrm>
          <a:prstGeom prst="rect">
            <a:avLst/>
          </a:prstGeom>
          <a:noFill/>
          <a:ln>
            <a:noFill/>
          </a:ln>
        </p:spPr>
      </p:pic>
      <p:pic>
        <p:nvPicPr>
          <p:cNvPr descr="image.png" id="217" name="Google Shape;217;p21"/>
          <p:cNvPicPr preferRelativeResize="0"/>
          <p:nvPr/>
        </p:nvPicPr>
        <p:blipFill rotWithShape="1">
          <a:blip r:embed="rId6">
            <a:alphaModFix/>
          </a:blip>
          <a:srcRect b="0" l="0" r="0" t="0"/>
          <a:stretch/>
        </p:blipFill>
        <p:spPr>
          <a:xfrm>
            <a:off x="6316563" y="4250680"/>
            <a:ext cx="2426493" cy="1293018"/>
          </a:xfrm>
          <a:prstGeom prst="rect">
            <a:avLst/>
          </a:prstGeom>
          <a:noFill/>
          <a:ln>
            <a:noFill/>
          </a:ln>
        </p:spPr>
      </p:pic>
      <p:pic>
        <p:nvPicPr>
          <p:cNvPr descr="image.png" id="218" name="Google Shape;218;p21"/>
          <p:cNvPicPr preferRelativeResize="0"/>
          <p:nvPr/>
        </p:nvPicPr>
        <p:blipFill rotWithShape="1">
          <a:blip r:embed="rId7">
            <a:alphaModFix/>
          </a:blip>
          <a:srcRect b="0" l="0" r="0" t="0"/>
          <a:stretch/>
        </p:blipFill>
        <p:spPr>
          <a:xfrm>
            <a:off x="9184332" y="2481411"/>
            <a:ext cx="2426493" cy="1293018"/>
          </a:xfrm>
          <a:prstGeom prst="rect">
            <a:avLst/>
          </a:prstGeom>
          <a:noFill/>
          <a:ln>
            <a:noFill/>
          </a:ln>
        </p:spPr>
      </p:pic>
      <p:sp>
        <p:nvSpPr>
          <p:cNvPr id="219" name="Google Shape;219;p21"/>
          <p:cNvSpPr/>
          <p:nvPr/>
        </p:nvSpPr>
        <p:spPr>
          <a:xfrm>
            <a:off x="581025" y="3898255"/>
            <a:ext cx="11029950" cy="38100"/>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0" name="Google Shape;220;p21"/>
          <p:cNvSpPr txBox="1"/>
          <p:nvPr/>
        </p:nvSpPr>
        <p:spPr>
          <a:xfrm>
            <a:off x="742950" y="4412605"/>
            <a:ext cx="2207775"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14B8A6"/>
                </a:solidFill>
                <a:latin typeface="Plus Jakarta Sans"/>
                <a:ea typeface="Plus Jakarta Sans"/>
                <a:cs typeface="Plus Jakarta Sans"/>
                <a:sym typeface="Plus Jakarta Sans"/>
              </a:rPr>
              <a:t>Mon: Schema First</a:t>
            </a:r>
            <a:endParaRPr/>
          </a:p>
        </p:txBody>
      </p:sp>
      <p:sp>
        <p:nvSpPr>
          <p:cNvPr id="221" name="Google Shape;221;p21"/>
          <p:cNvSpPr txBox="1"/>
          <p:nvPr/>
        </p:nvSpPr>
        <p:spPr>
          <a:xfrm>
            <a:off x="742950" y="4688830"/>
            <a:ext cx="2102643" cy="519707"/>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94A3B8"/>
                </a:solidFill>
                <a:latin typeface="Plus Jakarta Sans"/>
                <a:ea typeface="Plus Jakarta Sans"/>
                <a:cs typeface="Plus Jakarta Sans"/>
                <a:sym typeface="Plus Jakarta Sans"/>
              </a:rPr>
              <a:t>LLMs require strict, deterministic structural outputs instead of chatty, conversational interfaces.</a:t>
            </a:r>
            <a:endParaRPr/>
          </a:p>
        </p:txBody>
      </p:sp>
      <p:sp>
        <p:nvSpPr>
          <p:cNvPr id="222" name="Google Shape;222;p21"/>
          <p:cNvSpPr txBox="1"/>
          <p:nvPr/>
        </p:nvSpPr>
        <p:spPr>
          <a:xfrm>
            <a:off x="3610719" y="2643336"/>
            <a:ext cx="2207775"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14B8A6"/>
                </a:solidFill>
                <a:latin typeface="Plus Jakarta Sans"/>
                <a:ea typeface="Plus Jakarta Sans"/>
                <a:cs typeface="Plus Jakarta Sans"/>
                <a:sym typeface="Plus Jakarta Sans"/>
              </a:rPr>
              <a:t>Tue: Resilience</a:t>
            </a:r>
            <a:endParaRPr/>
          </a:p>
        </p:txBody>
      </p:sp>
      <p:sp>
        <p:nvSpPr>
          <p:cNvPr id="223" name="Google Shape;223;p21"/>
          <p:cNvSpPr txBox="1"/>
          <p:nvPr/>
        </p:nvSpPr>
        <p:spPr>
          <a:xfrm>
            <a:off x="3610719" y="2919561"/>
            <a:ext cx="2102643" cy="692943"/>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94A3B8"/>
                </a:solidFill>
                <a:latin typeface="Plus Jakarta Sans"/>
                <a:ea typeface="Plus Jakarta Sans"/>
                <a:cs typeface="Plus Jakarta Sans"/>
                <a:sym typeface="Plus Jakarta Sans"/>
              </a:rPr>
              <a:t>Cloud + local edge dual deployments are essential for practical field operations in low-connectivity zones.</a:t>
            </a:r>
            <a:endParaRPr/>
          </a:p>
        </p:txBody>
      </p:sp>
      <p:sp>
        <p:nvSpPr>
          <p:cNvPr id="224" name="Google Shape;224;p21"/>
          <p:cNvSpPr txBox="1"/>
          <p:nvPr/>
        </p:nvSpPr>
        <p:spPr>
          <a:xfrm>
            <a:off x="6478488" y="4412605"/>
            <a:ext cx="2207775"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14B8A6"/>
                </a:solidFill>
                <a:latin typeface="Plus Jakarta Sans"/>
                <a:ea typeface="Plus Jakarta Sans"/>
                <a:cs typeface="Plus Jakarta Sans"/>
                <a:sym typeface="Plus Jakarta Sans"/>
              </a:rPr>
              <a:t>Thu: Prompt Defense</a:t>
            </a:r>
            <a:endParaRPr/>
          </a:p>
        </p:txBody>
      </p:sp>
      <p:sp>
        <p:nvSpPr>
          <p:cNvPr id="225" name="Google Shape;225;p21"/>
          <p:cNvSpPr txBox="1"/>
          <p:nvPr/>
        </p:nvSpPr>
        <p:spPr>
          <a:xfrm>
            <a:off x="6478488" y="4688830"/>
            <a:ext cx="2102643" cy="692943"/>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94A3B8"/>
                </a:solidFill>
                <a:latin typeface="Plus Jakarta Sans"/>
                <a:ea typeface="Plus Jakarta Sans"/>
                <a:cs typeface="Plus Jakarta Sans"/>
                <a:sym typeface="Plus Jakarta Sans"/>
              </a:rPr>
              <a:t>Prompt engineering is the product. Strict delimiters, guardrails, and sandboxes secure production pipelines.</a:t>
            </a:r>
            <a:endParaRPr/>
          </a:p>
        </p:txBody>
      </p:sp>
      <p:sp>
        <p:nvSpPr>
          <p:cNvPr id="226" name="Google Shape;226;p21"/>
          <p:cNvSpPr txBox="1"/>
          <p:nvPr/>
        </p:nvSpPr>
        <p:spPr>
          <a:xfrm>
            <a:off x="9346257" y="2643336"/>
            <a:ext cx="2207775"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14B8A6"/>
                </a:solidFill>
                <a:latin typeface="Plus Jakarta Sans"/>
                <a:ea typeface="Plus Jakarta Sans"/>
                <a:cs typeface="Plus Jakarta Sans"/>
                <a:sym typeface="Plus Jakarta Sans"/>
              </a:rPr>
              <a:t>Capstone Synthesis</a:t>
            </a:r>
            <a:endParaRPr/>
          </a:p>
        </p:txBody>
      </p:sp>
      <p:sp>
        <p:nvSpPr>
          <p:cNvPr id="227" name="Google Shape;227;p21"/>
          <p:cNvSpPr txBox="1"/>
          <p:nvPr/>
        </p:nvSpPr>
        <p:spPr>
          <a:xfrm>
            <a:off x="9346257" y="2919561"/>
            <a:ext cx="2102643" cy="692943"/>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94A3B8"/>
                </a:solidFill>
                <a:latin typeface="Plus Jakarta Sans"/>
                <a:ea typeface="Plus Jakarta Sans"/>
                <a:cs typeface="Plus Jakarta Sans"/>
                <a:sym typeface="Plus Jakarta Sans"/>
              </a:rPr>
              <a:t>Combining rigorous structural schemas with resilient fallbacks yields an automation system we can safely scale.</a:t>
            </a:r>
            <a:endParaRPr/>
          </a:p>
        </p:txBody>
      </p:sp>
      <p:sp>
        <p:nvSpPr>
          <p:cNvPr id="228" name="Google Shape;228;p21"/>
          <p:cNvSpPr txBox="1"/>
          <p:nvPr/>
        </p:nvSpPr>
        <p:spPr>
          <a:xfrm>
            <a:off x="581025" y="881360"/>
            <a:ext cx="11581447"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FFFFF"/>
                </a:solidFill>
                <a:latin typeface="Plus Jakarta Sans"/>
                <a:ea typeface="Plus Jakarta Sans"/>
                <a:cs typeface="Plus Jakarta Sans"/>
                <a:sym typeface="Plus Jakarta Sans"/>
              </a:rPr>
              <a:t>Week 1 </a:t>
            </a:r>
            <a:r>
              <a:rPr b="1" i="0" lang="en-US" sz="2850" u="none" cap="none" strike="noStrike">
                <a:solidFill>
                  <a:srgbClr val="14B8A6"/>
                </a:solidFill>
                <a:latin typeface="Plus Jakarta Sans"/>
                <a:ea typeface="Plus Jakarta Sans"/>
                <a:cs typeface="Plus Jakarta Sans"/>
                <a:sym typeface="Plus Jakarta Sans"/>
              </a:rPr>
              <a:t>Synthesis Lifecycle</a:t>
            </a:r>
            <a:endParaRPr/>
          </a:p>
        </p:txBody>
      </p:sp>
      <p:sp>
        <p:nvSpPr>
          <p:cNvPr id="229" name="Google Shape;229;p21"/>
          <p:cNvSpPr/>
          <p:nvPr/>
        </p:nvSpPr>
        <p:spPr>
          <a:xfrm>
            <a:off x="1718071" y="3936355"/>
            <a:ext cx="152400" cy="152400"/>
          </a:xfrm>
          <a:prstGeom prst="roundRect">
            <a:avLst>
              <a:gd fmla="val 50000" name="adj"/>
            </a:avLst>
          </a:prstGeom>
          <a:solidFill>
            <a:srgbClr val="0B0F19"/>
          </a:solidFill>
          <a:ln cap="flat" cmpd="sng" w="38100">
            <a:solidFill>
              <a:srgbClr val="14B8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0" name="Google Shape;230;p21"/>
          <p:cNvSpPr/>
          <p:nvPr/>
        </p:nvSpPr>
        <p:spPr>
          <a:xfrm>
            <a:off x="4585841" y="3936355"/>
            <a:ext cx="152400" cy="152400"/>
          </a:xfrm>
          <a:prstGeom prst="roundRect">
            <a:avLst>
              <a:gd fmla="val 50000" name="adj"/>
            </a:avLst>
          </a:prstGeom>
          <a:solidFill>
            <a:srgbClr val="0B0F19"/>
          </a:solidFill>
          <a:ln cap="flat" cmpd="sng" w="38100">
            <a:solidFill>
              <a:srgbClr val="14B8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1" name="Google Shape;231;p21"/>
          <p:cNvSpPr/>
          <p:nvPr/>
        </p:nvSpPr>
        <p:spPr>
          <a:xfrm>
            <a:off x="7453610" y="3936355"/>
            <a:ext cx="152400" cy="152400"/>
          </a:xfrm>
          <a:prstGeom prst="roundRect">
            <a:avLst>
              <a:gd fmla="val 50000" name="adj"/>
            </a:avLst>
          </a:prstGeom>
          <a:solidFill>
            <a:srgbClr val="0B0F19"/>
          </a:solidFill>
          <a:ln cap="flat" cmpd="sng" w="38100">
            <a:solidFill>
              <a:srgbClr val="14B8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2" name="Google Shape;232;p21"/>
          <p:cNvSpPr/>
          <p:nvPr/>
        </p:nvSpPr>
        <p:spPr>
          <a:xfrm>
            <a:off x="10321379" y="3936355"/>
            <a:ext cx="152400" cy="152400"/>
          </a:xfrm>
          <a:prstGeom prst="roundRect">
            <a:avLst>
              <a:gd fmla="val 50000" name="adj"/>
            </a:avLst>
          </a:prstGeom>
          <a:solidFill>
            <a:srgbClr val="0B0F19"/>
          </a:solidFill>
          <a:ln cap="flat" cmpd="sng" w="38100">
            <a:solidFill>
              <a:srgbClr val="14B8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9"/>
        </a:solidFill>
      </p:bgPr>
    </p:bg>
    <p:spTree>
      <p:nvGrpSpPr>
        <p:cNvPr id="236" name="Shape 236"/>
        <p:cNvGrpSpPr/>
        <p:nvPr/>
      </p:nvGrpSpPr>
      <p:grpSpPr>
        <a:xfrm>
          <a:off x="0" y="0"/>
          <a:ext cx="0" cy="0"/>
          <a:chOff x="0" y="0"/>
          <a:chExt cx="0" cy="0"/>
        </a:xfrm>
      </p:grpSpPr>
      <p:pic>
        <p:nvPicPr>
          <p:cNvPr descr="image.png" id="237" name="Google Shape;237;p2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38" name="Google Shape;238;p22"/>
          <p:cNvSpPr txBox="1"/>
          <p:nvPr/>
        </p:nvSpPr>
        <p:spPr>
          <a:xfrm>
            <a:off x="2095500" y="1086891"/>
            <a:ext cx="8001000" cy="762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800" u="none" cap="none" strike="noStrike">
                <a:solidFill>
                  <a:srgbClr val="FFFFFF"/>
                </a:solidFill>
                <a:latin typeface="Plus Jakarta Sans"/>
                <a:ea typeface="Plus Jakarta Sans"/>
                <a:cs typeface="Plus Jakarta Sans"/>
                <a:sym typeface="Plus Jakarta Sans"/>
              </a:rPr>
              <a:t>Next Steps for AfyaPlus</a:t>
            </a:r>
            <a:endParaRPr/>
          </a:p>
        </p:txBody>
      </p:sp>
      <p:sp>
        <p:nvSpPr>
          <p:cNvPr id="239" name="Google Shape;239;p22"/>
          <p:cNvSpPr txBox="1"/>
          <p:nvPr/>
        </p:nvSpPr>
        <p:spPr>
          <a:xfrm>
            <a:off x="2286000" y="2039391"/>
            <a:ext cx="7620000" cy="9144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94A3B8"/>
                </a:solidFill>
                <a:latin typeface="Plus Jakarta Sans"/>
                <a:ea typeface="Plus Jakarta Sans"/>
                <a:cs typeface="Plus Jakarta Sans"/>
                <a:sym typeface="Plus Jakarta Sans"/>
              </a:rPr>
              <a:t>If we scale this prototype: Integrate dynamic SMS gateway routing, add a clinician dashboard for Reasoning Review, load-test high-throughput async processing, and begin formal clinical validation.</a:t>
            </a:r>
            <a:endParaRPr/>
          </a:p>
        </p:txBody>
      </p:sp>
      <p:sp>
        <p:nvSpPr>
          <p:cNvPr id="240" name="Google Shape;240;p22"/>
          <p:cNvSpPr txBox="1"/>
          <p:nvPr/>
        </p:nvSpPr>
        <p:spPr>
          <a:xfrm>
            <a:off x="2095500" y="3334791"/>
            <a:ext cx="8001000" cy="323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FFFFFF"/>
                </a:solidFill>
                <a:latin typeface="Plus Jakarta Sans SemiBold"/>
                <a:ea typeface="Plus Jakarta Sans SemiBold"/>
                <a:cs typeface="Plus Jakarta Sans SemiBold"/>
                <a:sym typeface="Plus Jakarta Sans SemiBold"/>
              </a:rPr>
              <a:t>Thank You.Questions?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9"/>
        </a:solidFill>
      </p:bgPr>
    </p:bg>
    <p:spTree>
      <p:nvGrpSpPr>
        <p:cNvPr id="244" name="Shape 244"/>
        <p:cNvGrpSpPr/>
        <p:nvPr/>
      </p:nvGrpSpPr>
      <p:grpSpPr>
        <a:xfrm>
          <a:off x="0" y="0"/>
          <a:ext cx="0" cy="0"/>
          <a:chOff x="0" y="0"/>
          <a:chExt cx="0" cy="0"/>
        </a:xfrm>
      </p:grpSpPr>
      <p:pic>
        <p:nvPicPr>
          <p:cNvPr descr="image.png" id="245" name="Google Shape;245;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46" name="Google Shape;246;p23"/>
          <p:cNvPicPr preferRelativeResize="0"/>
          <p:nvPr/>
        </p:nvPicPr>
        <p:blipFill rotWithShape="1">
          <a:blip r:embed="rId4">
            <a:alphaModFix/>
          </a:blip>
          <a:srcRect b="0" l="0" r="0" t="0"/>
          <a:stretch/>
        </p:blipFill>
        <p:spPr>
          <a:xfrm>
            <a:off x="1171575" y="3679031"/>
            <a:ext cx="857250" cy="476250"/>
          </a:xfrm>
          <a:prstGeom prst="rect">
            <a:avLst/>
          </a:prstGeom>
          <a:noFill/>
          <a:ln>
            <a:noFill/>
          </a:ln>
        </p:spPr>
      </p:pic>
      <p:sp>
        <p:nvSpPr>
          <p:cNvPr id="247" name="Google Shape;247;p23"/>
          <p:cNvSpPr txBox="1"/>
          <p:nvPr/>
        </p:nvSpPr>
        <p:spPr>
          <a:xfrm>
            <a:off x="2266950" y="3672482"/>
            <a:ext cx="875347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94A3B8"/>
                </a:solidFill>
                <a:latin typeface="Plus Jakarta Sans"/>
                <a:ea typeface="Plus Jakarta Sans"/>
                <a:cs typeface="Plus Jakarta Sans"/>
                <a:sym typeface="Plus Jakarta Sans"/>
              </a:rPr>
              <a:t>https://e4sv.org/wp-content/uploads/2017/03/Clinical-Officer-Using-Older-Virtual-Doctors-laptop-for-little-girl-e1488381196458-1024x463.jpg</a:t>
            </a:r>
            <a:endParaRPr/>
          </a:p>
        </p:txBody>
      </p:sp>
      <p:sp>
        <p:nvSpPr>
          <p:cNvPr id="248" name="Google Shape;248;p23"/>
          <p:cNvSpPr txBox="1"/>
          <p:nvPr/>
        </p:nvSpPr>
        <p:spPr>
          <a:xfrm>
            <a:off x="2266950" y="3918198"/>
            <a:ext cx="875347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Plus Jakarta Sans"/>
                <a:ea typeface="Plus Jakarta Sans"/>
                <a:cs typeface="Plus Jakarta Sans"/>
                <a:sym typeface="Plus Jakarta Sans"/>
              </a:rPr>
              <a:t>Source: </a:t>
            </a:r>
            <a:r>
              <a:rPr b="0" i="0" lang="en-US" sz="1200" u="none" cap="none" strike="noStrike">
                <a:solidFill>
                  <a:srgbClr val="4F46E5"/>
                </a:solidFill>
                <a:latin typeface="Plus Jakarta Sans"/>
                <a:ea typeface="Plus Jakarta Sans"/>
                <a:cs typeface="Plus Jakarta Sans"/>
                <a:sym typeface="Plus Jakarta Sans"/>
              </a:rPr>
              <a:t>e4sv.org</a:t>
            </a:r>
            <a:endParaRPr/>
          </a:p>
        </p:txBody>
      </p:sp>
      <p:sp>
        <p:nvSpPr>
          <p:cNvPr id="249" name="Google Shape;249;p23"/>
          <p:cNvSpPr txBox="1"/>
          <p:nvPr/>
        </p:nvSpPr>
        <p:spPr>
          <a:xfrm>
            <a:off x="581025" y="881360"/>
            <a:ext cx="11581447"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FFFFF"/>
                </a:solidFill>
                <a:latin typeface="Plus Jakarta Sans"/>
                <a:ea typeface="Plus Jakarta Sans"/>
                <a:cs typeface="Plus Jakarta Sans"/>
                <a:sym typeface="Plus Jakarta Sans"/>
              </a:rPr>
              <a:t>Image Sources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